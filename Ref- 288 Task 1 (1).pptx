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0421" autoAdjust="0"/>
  </p:normalViewPr>
  <p:slideViewPr>
    <p:cSldViewPr snapToGrid="0">
      <p:cViewPr varScale="1">
        <p:scale>
          <a:sx n="59" d="100"/>
          <a:sy n="59" d="100"/>
        </p:scale>
        <p:origin x="3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7DD563-B71E-4985-BB93-38B153242BF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CE13139-D6A4-4000-A2E3-7F91D4236768}">
      <dgm:prSet/>
      <dgm:spPr/>
      <dgm:t>
        <a:bodyPr/>
        <a:lstStyle/>
        <a:p>
          <a:r>
            <a:rPr lang="en-GB"/>
            <a:t>Strong government support for clean-tech (Net Zero 2050).</a:t>
          </a:r>
          <a:endParaRPr lang="en-US"/>
        </a:p>
      </dgm:t>
    </dgm:pt>
    <dgm:pt modelId="{BE376701-960D-4510-9E28-4BDACB295016}" type="parTrans" cxnId="{02DB5D62-B293-475C-86FC-93EFE6B61C57}">
      <dgm:prSet/>
      <dgm:spPr/>
      <dgm:t>
        <a:bodyPr/>
        <a:lstStyle/>
        <a:p>
          <a:endParaRPr lang="en-US"/>
        </a:p>
      </dgm:t>
    </dgm:pt>
    <dgm:pt modelId="{CDC960D9-1A95-48B5-8928-45DDBF988648}" type="sibTrans" cxnId="{02DB5D62-B293-475C-86FC-93EFE6B61C57}">
      <dgm:prSet/>
      <dgm:spPr/>
      <dgm:t>
        <a:bodyPr/>
        <a:lstStyle/>
        <a:p>
          <a:endParaRPr lang="en-US"/>
        </a:p>
      </dgm:t>
    </dgm:pt>
    <dgm:pt modelId="{0D04EBEB-7FC4-4FF5-86C9-0B1A7C73546D}">
      <dgm:prSet/>
      <dgm:spPr/>
      <dgm:t>
        <a:bodyPr/>
        <a:lstStyle/>
        <a:p>
          <a:r>
            <a:rPr lang="en-GB"/>
            <a:t>High GDP per capita and strong tech retail sector.</a:t>
          </a:r>
          <a:endParaRPr lang="en-US"/>
        </a:p>
      </dgm:t>
    </dgm:pt>
    <dgm:pt modelId="{A7493EC3-3327-4D42-8390-98C51385C5DE}" type="parTrans" cxnId="{4FF06E38-EBAA-4A42-9586-1C2F31E21112}">
      <dgm:prSet/>
      <dgm:spPr/>
      <dgm:t>
        <a:bodyPr/>
        <a:lstStyle/>
        <a:p>
          <a:endParaRPr lang="en-US"/>
        </a:p>
      </dgm:t>
    </dgm:pt>
    <dgm:pt modelId="{9D4F32A3-41B5-4FDC-8F8D-1B4E707E3B32}" type="sibTrans" cxnId="{4FF06E38-EBAA-4A42-9586-1C2F31E21112}">
      <dgm:prSet/>
      <dgm:spPr/>
      <dgm:t>
        <a:bodyPr/>
        <a:lstStyle/>
        <a:p>
          <a:endParaRPr lang="en-US"/>
        </a:p>
      </dgm:t>
    </dgm:pt>
    <dgm:pt modelId="{C4210553-B382-4706-807C-E1D7C0F3A965}">
      <dgm:prSet/>
      <dgm:spPr/>
      <dgm:t>
        <a:bodyPr/>
        <a:lstStyle/>
        <a:p>
          <a:r>
            <a:rPr lang="en-GB"/>
            <a:t>97%+ smartphone usage and heavy tourist mobility.</a:t>
          </a:r>
          <a:endParaRPr lang="en-US"/>
        </a:p>
      </dgm:t>
    </dgm:pt>
    <dgm:pt modelId="{E9EB0339-522C-41D2-AD10-A75E40D19EDA}" type="parTrans" cxnId="{A0EC36C1-FC11-4ADC-9D26-EC631EDD2663}">
      <dgm:prSet/>
      <dgm:spPr/>
      <dgm:t>
        <a:bodyPr/>
        <a:lstStyle/>
        <a:p>
          <a:endParaRPr lang="en-US"/>
        </a:p>
      </dgm:t>
    </dgm:pt>
    <dgm:pt modelId="{05B9B847-BC5D-4494-A70E-1629185238E6}" type="sibTrans" cxnId="{A0EC36C1-FC11-4ADC-9D26-EC631EDD2663}">
      <dgm:prSet/>
      <dgm:spPr/>
      <dgm:t>
        <a:bodyPr/>
        <a:lstStyle/>
        <a:p>
          <a:endParaRPr lang="en-US"/>
        </a:p>
      </dgm:t>
    </dgm:pt>
    <dgm:pt modelId="{D7E9B495-1215-4FD9-ACB0-88310691D2CA}">
      <dgm:prSet/>
      <dgm:spPr/>
      <dgm:t>
        <a:bodyPr/>
        <a:lstStyle/>
        <a:p>
          <a:r>
            <a:rPr lang="en-GB"/>
            <a:t>Strong clean-tech and smart city innovation demand.</a:t>
          </a:r>
          <a:endParaRPr lang="en-US"/>
        </a:p>
      </dgm:t>
    </dgm:pt>
    <dgm:pt modelId="{348E8B22-4D0E-415C-A3A1-0429304239A9}" type="parTrans" cxnId="{BEAEEC35-FA24-4D71-A0F4-B709095B8D26}">
      <dgm:prSet/>
      <dgm:spPr/>
      <dgm:t>
        <a:bodyPr/>
        <a:lstStyle/>
        <a:p>
          <a:endParaRPr lang="en-US"/>
        </a:p>
      </dgm:t>
    </dgm:pt>
    <dgm:pt modelId="{A4D0013E-CB83-4CA4-9C55-F4CC2CCAB218}" type="sibTrans" cxnId="{BEAEEC35-FA24-4D71-A0F4-B709095B8D26}">
      <dgm:prSet/>
      <dgm:spPr/>
      <dgm:t>
        <a:bodyPr/>
        <a:lstStyle/>
        <a:p>
          <a:endParaRPr lang="en-US"/>
        </a:p>
      </dgm:t>
    </dgm:pt>
    <dgm:pt modelId="{13400EBC-C7EA-465C-A79D-D13B43525B93}">
      <dgm:prSet/>
      <dgm:spPr/>
      <dgm:t>
        <a:bodyPr/>
        <a:lstStyle/>
        <a:p>
          <a:r>
            <a:rPr lang="en-GB"/>
            <a:t>Favourable import/green-energy policies.</a:t>
          </a:r>
          <a:endParaRPr lang="en-US"/>
        </a:p>
      </dgm:t>
    </dgm:pt>
    <dgm:pt modelId="{537FF5C6-6593-4516-8E42-3C28CFAB0B99}" type="parTrans" cxnId="{1D366897-8E0B-4D23-B198-1EC58025A31F}">
      <dgm:prSet/>
      <dgm:spPr/>
      <dgm:t>
        <a:bodyPr/>
        <a:lstStyle/>
        <a:p>
          <a:endParaRPr lang="en-US"/>
        </a:p>
      </dgm:t>
    </dgm:pt>
    <dgm:pt modelId="{86A6D12C-2AD0-4CB8-BEB3-03DA84546787}" type="sibTrans" cxnId="{1D366897-8E0B-4D23-B198-1EC58025A31F}">
      <dgm:prSet/>
      <dgm:spPr/>
      <dgm:t>
        <a:bodyPr/>
        <a:lstStyle/>
        <a:p>
          <a:endParaRPr lang="en-US"/>
        </a:p>
      </dgm:t>
    </dgm:pt>
    <dgm:pt modelId="{165FC034-BA3C-49C8-B44E-4E9D566BF3B0}">
      <dgm:prSet/>
      <dgm:spPr/>
      <dgm:t>
        <a:bodyPr/>
        <a:lstStyle/>
        <a:p>
          <a:r>
            <a:rPr lang="en-GB"/>
            <a:t>Intense sunlight ideal for solar products.</a:t>
          </a:r>
          <a:endParaRPr lang="en-US"/>
        </a:p>
      </dgm:t>
    </dgm:pt>
    <dgm:pt modelId="{04C2EED9-EF40-4AEC-88CD-37D66C538895}" type="parTrans" cxnId="{6B673571-EFE6-47EE-BF63-07BBD4795BBA}">
      <dgm:prSet/>
      <dgm:spPr/>
      <dgm:t>
        <a:bodyPr/>
        <a:lstStyle/>
        <a:p>
          <a:endParaRPr lang="en-US"/>
        </a:p>
      </dgm:t>
    </dgm:pt>
    <dgm:pt modelId="{A505D7BD-6CB4-4CAD-A434-70F7E8997913}" type="sibTrans" cxnId="{6B673571-EFE6-47EE-BF63-07BBD4795BBA}">
      <dgm:prSet/>
      <dgm:spPr/>
      <dgm:t>
        <a:bodyPr/>
        <a:lstStyle/>
        <a:p>
          <a:endParaRPr lang="en-US"/>
        </a:p>
      </dgm:t>
    </dgm:pt>
    <dgm:pt modelId="{255B9E81-34CE-4B94-B5BB-912D6651D041}">
      <dgm:prSet/>
      <dgm:spPr/>
      <dgm:t>
        <a:bodyPr/>
        <a:lstStyle/>
        <a:p>
          <a:r>
            <a:rPr lang="en-GB"/>
            <a:t>Overall high strategic fit for entry.</a:t>
          </a:r>
          <a:endParaRPr lang="en-US"/>
        </a:p>
      </dgm:t>
    </dgm:pt>
    <dgm:pt modelId="{9FA2CF56-0452-4848-A4E5-03883162828B}" type="parTrans" cxnId="{DB5DE34B-6C87-473B-ACAC-5785B1EDEA31}">
      <dgm:prSet/>
      <dgm:spPr/>
      <dgm:t>
        <a:bodyPr/>
        <a:lstStyle/>
        <a:p>
          <a:endParaRPr lang="en-US"/>
        </a:p>
      </dgm:t>
    </dgm:pt>
    <dgm:pt modelId="{1AFAE4BF-9BCC-43B1-B146-32D7E455B6C0}" type="sibTrans" cxnId="{DB5DE34B-6C87-473B-ACAC-5785B1EDEA31}">
      <dgm:prSet/>
      <dgm:spPr/>
      <dgm:t>
        <a:bodyPr/>
        <a:lstStyle/>
        <a:p>
          <a:endParaRPr lang="en-US"/>
        </a:p>
      </dgm:t>
    </dgm:pt>
    <dgm:pt modelId="{10DC8D6E-2B68-4A2C-A56F-86DCA210C87F}" type="pres">
      <dgm:prSet presAssocID="{5E7DD563-B71E-4985-BB93-38B153242BFF}" presName="root" presStyleCnt="0">
        <dgm:presLayoutVars>
          <dgm:dir/>
          <dgm:resizeHandles val="exact"/>
        </dgm:presLayoutVars>
      </dgm:prSet>
      <dgm:spPr/>
    </dgm:pt>
    <dgm:pt modelId="{3C262205-442C-49E3-9634-A1140F8C42F3}" type="pres">
      <dgm:prSet presAssocID="{BCE13139-D6A4-4000-A2E3-7F91D4236768}" presName="compNode" presStyleCnt="0"/>
      <dgm:spPr/>
    </dgm:pt>
    <dgm:pt modelId="{B0966CED-0454-4145-8F4F-6CC643201A15}" type="pres">
      <dgm:prSet presAssocID="{BCE13139-D6A4-4000-A2E3-7F91D4236768}" presName="bgRect" presStyleLbl="bgShp" presStyleIdx="0" presStyleCnt="7"/>
      <dgm:spPr/>
    </dgm:pt>
    <dgm:pt modelId="{DE6AF0F3-8161-4113-A728-7190713A99D9}" type="pres">
      <dgm:prSet presAssocID="{BCE13139-D6A4-4000-A2E3-7F91D4236768}"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3119D9D-C6B2-463B-AB7F-261FB89ADFCF}" type="pres">
      <dgm:prSet presAssocID="{BCE13139-D6A4-4000-A2E3-7F91D4236768}" presName="spaceRect" presStyleCnt="0"/>
      <dgm:spPr/>
    </dgm:pt>
    <dgm:pt modelId="{61631AD2-C365-4214-9FD6-996F25B34C40}" type="pres">
      <dgm:prSet presAssocID="{BCE13139-D6A4-4000-A2E3-7F91D4236768}" presName="parTx" presStyleLbl="revTx" presStyleIdx="0" presStyleCnt="7">
        <dgm:presLayoutVars>
          <dgm:chMax val="0"/>
          <dgm:chPref val="0"/>
        </dgm:presLayoutVars>
      </dgm:prSet>
      <dgm:spPr/>
    </dgm:pt>
    <dgm:pt modelId="{54012680-F01B-48A6-A3EB-419328B63D5F}" type="pres">
      <dgm:prSet presAssocID="{CDC960D9-1A95-48B5-8928-45DDBF988648}" presName="sibTrans" presStyleCnt="0"/>
      <dgm:spPr/>
    </dgm:pt>
    <dgm:pt modelId="{CD2AF67B-DC87-496A-A9C6-9AADC0799A5A}" type="pres">
      <dgm:prSet presAssocID="{0D04EBEB-7FC4-4FF5-86C9-0B1A7C73546D}" presName="compNode" presStyleCnt="0"/>
      <dgm:spPr/>
    </dgm:pt>
    <dgm:pt modelId="{1B1D7D91-FA03-436D-8CB8-649FA8CE0746}" type="pres">
      <dgm:prSet presAssocID="{0D04EBEB-7FC4-4FF5-86C9-0B1A7C73546D}" presName="bgRect" presStyleLbl="bgShp" presStyleIdx="1" presStyleCnt="7"/>
      <dgm:spPr/>
    </dgm:pt>
    <dgm:pt modelId="{18363891-4CA1-4B78-AFAC-2D40CF091E4A}" type="pres">
      <dgm:prSet presAssocID="{0D04EBEB-7FC4-4FF5-86C9-0B1A7C73546D}"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496D82A8-4DB3-432E-9152-AB23489FFC93}" type="pres">
      <dgm:prSet presAssocID="{0D04EBEB-7FC4-4FF5-86C9-0B1A7C73546D}" presName="spaceRect" presStyleCnt="0"/>
      <dgm:spPr/>
    </dgm:pt>
    <dgm:pt modelId="{74FA1B63-5478-4451-AC52-B4047ECAB6EB}" type="pres">
      <dgm:prSet presAssocID="{0D04EBEB-7FC4-4FF5-86C9-0B1A7C73546D}" presName="parTx" presStyleLbl="revTx" presStyleIdx="1" presStyleCnt="7">
        <dgm:presLayoutVars>
          <dgm:chMax val="0"/>
          <dgm:chPref val="0"/>
        </dgm:presLayoutVars>
      </dgm:prSet>
      <dgm:spPr/>
    </dgm:pt>
    <dgm:pt modelId="{959BF9C0-1E9E-4190-BF9F-E2ADBC8912E6}" type="pres">
      <dgm:prSet presAssocID="{9D4F32A3-41B5-4FDC-8F8D-1B4E707E3B32}" presName="sibTrans" presStyleCnt="0"/>
      <dgm:spPr/>
    </dgm:pt>
    <dgm:pt modelId="{CC0B565B-B9E0-4FF2-BC00-21EAF5088FB3}" type="pres">
      <dgm:prSet presAssocID="{C4210553-B382-4706-807C-E1D7C0F3A965}" presName="compNode" presStyleCnt="0"/>
      <dgm:spPr/>
    </dgm:pt>
    <dgm:pt modelId="{02A4CB6B-9F2C-42B2-AABA-7DEDD993FB47}" type="pres">
      <dgm:prSet presAssocID="{C4210553-B382-4706-807C-E1D7C0F3A965}" presName="bgRect" presStyleLbl="bgShp" presStyleIdx="2" presStyleCnt="7"/>
      <dgm:spPr/>
    </dgm:pt>
    <dgm:pt modelId="{D3C70381-AC87-42C9-9EDE-96234553910C}" type="pres">
      <dgm:prSet presAssocID="{C4210553-B382-4706-807C-E1D7C0F3A965}"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3E4CE0B0-EC8E-4EB8-91DD-00757F3B4E15}" type="pres">
      <dgm:prSet presAssocID="{C4210553-B382-4706-807C-E1D7C0F3A965}" presName="spaceRect" presStyleCnt="0"/>
      <dgm:spPr/>
    </dgm:pt>
    <dgm:pt modelId="{DEA6286B-C5E6-4218-AC52-F966E67B9A76}" type="pres">
      <dgm:prSet presAssocID="{C4210553-B382-4706-807C-E1D7C0F3A965}" presName="parTx" presStyleLbl="revTx" presStyleIdx="2" presStyleCnt="7">
        <dgm:presLayoutVars>
          <dgm:chMax val="0"/>
          <dgm:chPref val="0"/>
        </dgm:presLayoutVars>
      </dgm:prSet>
      <dgm:spPr/>
    </dgm:pt>
    <dgm:pt modelId="{4184848A-0D2C-4833-A6EB-4494E40D5DF4}" type="pres">
      <dgm:prSet presAssocID="{05B9B847-BC5D-4494-A70E-1629185238E6}" presName="sibTrans" presStyleCnt="0"/>
      <dgm:spPr/>
    </dgm:pt>
    <dgm:pt modelId="{83918F2F-4880-4063-B80E-D5A2048A4477}" type="pres">
      <dgm:prSet presAssocID="{D7E9B495-1215-4FD9-ACB0-88310691D2CA}" presName="compNode" presStyleCnt="0"/>
      <dgm:spPr/>
    </dgm:pt>
    <dgm:pt modelId="{B98F1DAA-ABA8-4FCF-8EDE-CA4AAD7EF461}" type="pres">
      <dgm:prSet presAssocID="{D7E9B495-1215-4FD9-ACB0-88310691D2CA}" presName="bgRect" presStyleLbl="bgShp" presStyleIdx="3" presStyleCnt="7"/>
      <dgm:spPr/>
    </dgm:pt>
    <dgm:pt modelId="{FF41180E-FDC5-4DE7-8320-B176C1DFDBD8}" type="pres">
      <dgm:prSet presAssocID="{D7E9B495-1215-4FD9-ACB0-88310691D2CA}"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ity"/>
        </a:ext>
      </dgm:extLst>
    </dgm:pt>
    <dgm:pt modelId="{60B91988-D398-4C67-BED5-A8B5C2CF0FB5}" type="pres">
      <dgm:prSet presAssocID="{D7E9B495-1215-4FD9-ACB0-88310691D2CA}" presName="spaceRect" presStyleCnt="0"/>
      <dgm:spPr/>
    </dgm:pt>
    <dgm:pt modelId="{C56EA718-F96E-4122-BD30-22CE1B22ED92}" type="pres">
      <dgm:prSet presAssocID="{D7E9B495-1215-4FD9-ACB0-88310691D2CA}" presName="parTx" presStyleLbl="revTx" presStyleIdx="3" presStyleCnt="7">
        <dgm:presLayoutVars>
          <dgm:chMax val="0"/>
          <dgm:chPref val="0"/>
        </dgm:presLayoutVars>
      </dgm:prSet>
      <dgm:spPr/>
    </dgm:pt>
    <dgm:pt modelId="{53A9E092-F38C-4A43-9C0D-29F493FF9583}" type="pres">
      <dgm:prSet presAssocID="{A4D0013E-CB83-4CA4-9C55-F4CC2CCAB218}" presName="sibTrans" presStyleCnt="0"/>
      <dgm:spPr/>
    </dgm:pt>
    <dgm:pt modelId="{2C483DC9-F378-48F0-A04D-3F4001290EBE}" type="pres">
      <dgm:prSet presAssocID="{13400EBC-C7EA-465C-A79D-D13B43525B93}" presName="compNode" presStyleCnt="0"/>
      <dgm:spPr/>
    </dgm:pt>
    <dgm:pt modelId="{457A4B99-D28F-4F24-B0A5-97277BE540F0}" type="pres">
      <dgm:prSet presAssocID="{13400EBC-C7EA-465C-A79D-D13B43525B93}" presName="bgRect" presStyleLbl="bgShp" presStyleIdx="4" presStyleCnt="7"/>
      <dgm:spPr/>
    </dgm:pt>
    <dgm:pt modelId="{1A398C87-3B0C-4A72-BCCA-08B48D296F2B}" type="pres">
      <dgm:prSet presAssocID="{13400EBC-C7EA-465C-A79D-D13B43525B93}"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lectric Car"/>
        </a:ext>
      </dgm:extLst>
    </dgm:pt>
    <dgm:pt modelId="{8457D0DC-AF08-4B15-864E-BB10B63FB340}" type="pres">
      <dgm:prSet presAssocID="{13400EBC-C7EA-465C-A79D-D13B43525B93}" presName="spaceRect" presStyleCnt="0"/>
      <dgm:spPr/>
    </dgm:pt>
    <dgm:pt modelId="{BC9C4FB7-2449-42AC-99E3-4BDD7E7B8B15}" type="pres">
      <dgm:prSet presAssocID="{13400EBC-C7EA-465C-A79D-D13B43525B93}" presName="parTx" presStyleLbl="revTx" presStyleIdx="4" presStyleCnt="7">
        <dgm:presLayoutVars>
          <dgm:chMax val="0"/>
          <dgm:chPref val="0"/>
        </dgm:presLayoutVars>
      </dgm:prSet>
      <dgm:spPr/>
    </dgm:pt>
    <dgm:pt modelId="{93755F5E-65E6-459E-9116-3456FAA09617}" type="pres">
      <dgm:prSet presAssocID="{86A6D12C-2AD0-4CB8-BEB3-03DA84546787}" presName="sibTrans" presStyleCnt="0"/>
      <dgm:spPr/>
    </dgm:pt>
    <dgm:pt modelId="{28362E52-C825-48AF-8F91-9440494043A4}" type="pres">
      <dgm:prSet presAssocID="{165FC034-BA3C-49C8-B44E-4E9D566BF3B0}" presName="compNode" presStyleCnt="0"/>
      <dgm:spPr/>
    </dgm:pt>
    <dgm:pt modelId="{AA559544-8856-4766-A2C8-E4511C89E34E}" type="pres">
      <dgm:prSet presAssocID="{165FC034-BA3C-49C8-B44E-4E9D566BF3B0}" presName="bgRect" presStyleLbl="bgShp" presStyleIdx="5" presStyleCnt="7"/>
      <dgm:spPr/>
    </dgm:pt>
    <dgm:pt modelId="{045F1D8F-40EC-4606-82F9-A394184DC94F}" type="pres">
      <dgm:prSet presAssocID="{165FC034-BA3C-49C8-B44E-4E9D566BF3B0}"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un"/>
        </a:ext>
      </dgm:extLst>
    </dgm:pt>
    <dgm:pt modelId="{18529818-08DC-445C-A5CE-084CFFB18949}" type="pres">
      <dgm:prSet presAssocID="{165FC034-BA3C-49C8-B44E-4E9D566BF3B0}" presName="spaceRect" presStyleCnt="0"/>
      <dgm:spPr/>
    </dgm:pt>
    <dgm:pt modelId="{719C39D5-7438-4C88-AD54-C1DF270975B2}" type="pres">
      <dgm:prSet presAssocID="{165FC034-BA3C-49C8-B44E-4E9D566BF3B0}" presName="parTx" presStyleLbl="revTx" presStyleIdx="5" presStyleCnt="7">
        <dgm:presLayoutVars>
          <dgm:chMax val="0"/>
          <dgm:chPref val="0"/>
        </dgm:presLayoutVars>
      </dgm:prSet>
      <dgm:spPr/>
    </dgm:pt>
    <dgm:pt modelId="{F0099D04-9BE2-42F9-95C2-B0611627AEC6}" type="pres">
      <dgm:prSet presAssocID="{A505D7BD-6CB4-4CAD-A434-70F7E8997913}" presName="sibTrans" presStyleCnt="0"/>
      <dgm:spPr/>
    </dgm:pt>
    <dgm:pt modelId="{F807005B-3347-46A8-A672-2783DDD7F118}" type="pres">
      <dgm:prSet presAssocID="{255B9E81-34CE-4B94-B5BB-912D6651D041}" presName="compNode" presStyleCnt="0"/>
      <dgm:spPr/>
    </dgm:pt>
    <dgm:pt modelId="{20942563-9E20-4633-A955-AAB29DF46AB9}" type="pres">
      <dgm:prSet presAssocID="{255B9E81-34CE-4B94-B5BB-912D6651D041}" presName="bgRect" presStyleLbl="bgShp" presStyleIdx="6" presStyleCnt="7"/>
      <dgm:spPr/>
    </dgm:pt>
    <dgm:pt modelId="{83B76167-9AEC-4C9F-9501-22080AE34EA0}" type="pres">
      <dgm:prSet presAssocID="{255B9E81-34CE-4B94-B5BB-912D6651D041}"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Playbook"/>
        </a:ext>
      </dgm:extLst>
    </dgm:pt>
    <dgm:pt modelId="{7922601C-332D-4807-9589-8C2CA743FC13}" type="pres">
      <dgm:prSet presAssocID="{255B9E81-34CE-4B94-B5BB-912D6651D041}" presName="spaceRect" presStyleCnt="0"/>
      <dgm:spPr/>
    </dgm:pt>
    <dgm:pt modelId="{502F41BD-39EE-4E08-9388-8219A8DD597C}" type="pres">
      <dgm:prSet presAssocID="{255B9E81-34CE-4B94-B5BB-912D6651D041}" presName="parTx" presStyleLbl="revTx" presStyleIdx="6" presStyleCnt="7">
        <dgm:presLayoutVars>
          <dgm:chMax val="0"/>
          <dgm:chPref val="0"/>
        </dgm:presLayoutVars>
      </dgm:prSet>
      <dgm:spPr/>
    </dgm:pt>
  </dgm:ptLst>
  <dgm:cxnLst>
    <dgm:cxn modelId="{36D33521-3EA2-4114-8469-EA8C47FFBCB1}" type="presOf" srcId="{D7E9B495-1215-4FD9-ACB0-88310691D2CA}" destId="{C56EA718-F96E-4122-BD30-22CE1B22ED92}" srcOrd="0" destOrd="0" presId="urn:microsoft.com/office/officeart/2018/2/layout/IconVerticalSolidList"/>
    <dgm:cxn modelId="{BEAEEC35-FA24-4D71-A0F4-B709095B8D26}" srcId="{5E7DD563-B71E-4985-BB93-38B153242BFF}" destId="{D7E9B495-1215-4FD9-ACB0-88310691D2CA}" srcOrd="3" destOrd="0" parTransId="{348E8B22-4D0E-415C-A3A1-0429304239A9}" sibTransId="{A4D0013E-CB83-4CA4-9C55-F4CC2CCAB218}"/>
    <dgm:cxn modelId="{4FF06E38-EBAA-4A42-9586-1C2F31E21112}" srcId="{5E7DD563-B71E-4985-BB93-38B153242BFF}" destId="{0D04EBEB-7FC4-4FF5-86C9-0B1A7C73546D}" srcOrd="1" destOrd="0" parTransId="{A7493EC3-3327-4D42-8390-98C51385C5DE}" sibTransId="{9D4F32A3-41B5-4FDC-8F8D-1B4E707E3B32}"/>
    <dgm:cxn modelId="{2E624F5B-E8F4-4C7A-9CD0-9C89D2C8AA5F}" type="presOf" srcId="{5E7DD563-B71E-4985-BB93-38B153242BFF}" destId="{10DC8D6E-2B68-4A2C-A56F-86DCA210C87F}" srcOrd="0" destOrd="0" presId="urn:microsoft.com/office/officeart/2018/2/layout/IconVerticalSolidList"/>
    <dgm:cxn modelId="{0619E85F-B81F-47C9-8CEE-EF3C63A5C070}" type="presOf" srcId="{165FC034-BA3C-49C8-B44E-4E9D566BF3B0}" destId="{719C39D5-7438-4C88-AD54-C1DF270975B2}" srcOrd="0" destOrd="0" presId="urn:microsoft.com/office/officeart/2018/2/layout/IconVerticalSolidList"/>
    <dgm:cxn modelId="{02DB5D62-B293-475C-86FC-93EFE6B61C57}" srcId="{5E7DD563-B71E-4985-BB93-38B153242BFF}" destId="{BCE13139-D6A4-4000-A2E3-7F91D4236768}" srcOrd="0" destOrd="0" parTransId="{BE376701-960D-4510-9E28-4BDACB295016}" sibTransId="{CDC960D9-1A95-48B5-8928-45DDBF988648}"/>
    <dgm:cxn modelId="{DB5DE34B-6C87-473B-ACAC-5785B1EDEA31}" srcId="{5E7DD563-B71E-4985-BB93-38B153242BFF}" destId="{255B9E81-34CE-4B94-B5BB-912D6651D041}" srcOrd="6" destOrd="0" parTransId="{9FA2CF56-0452-4848-A4E5-03883162828B}" sibTransId="{1AFAE4BF-9BCC-43B1-B146-32D7E455B6C0}"/>
    <dgm:cxn modelId="{989A684F-E7F4-4BC6-9A21-6482D985C171}" type="presOf" srcId="{BCE13139-D6A4-4000-A2E3-7F91D4236768}" destId="{61631AD2-C365-4214-9FD6-996F25B34C40}" srcOrd="0" destOrd="0" presId="urn:microsoft.com/office/officeart/2018/2/layout/IconVerticalSolidList"/>
    <dgm:cxn modelId="{6B673571-EFE6-47EE-BF63-07BBD4795BBA}" srcId="{5E7DD563-B71E-4985-BB93-38B153242BFF}" destId="{165FC034-BA3C-49C8-B44E-4E9D566BF3B0}" srcOrd="5" destOrd="0" parTransId="{04C2EED9-EF40-4AEC-88CD-37D66C538895}" sibTransId="{A505D7BD-6CB4-4CAD-A434-70F7E8997913}"/>
    <dgm:cxn modelId="{FCA15187-CD0C-4732-B714-2110503E5F6D}" type="presOf" srcId="{0D04EBEB-7FC4-4FF5-86C9-0B1A7C73546D}" destId="{74FA1B63-5478-4451-AC52-B4047ECAB6EB}" srcOrd="0" destOrd="0" presId="urn:microsoft.com/office/officeart/2018/2/layout/IconVerticalSolidList"/>
    <dgm:cxn modelId="{66050592-00A1-4500-A355-6DEDBF576532}" type="presOf" srcId="{255B9E81-34CE-4B94-B5BB-912D6651D041}" destId="{502F41BD-39EE-4E08-9388-8219A8DD597C}" srcOrd="0" destOrd="0" presId="urn:microsoft.com/office/officeart/2018/2/layout/IconVerticalSolidList"/>
    <dgm:cxn modelId="{1D366897-8E0B-4D23-B198-1EC58025A31F}" srcId="{5E7DD563-B71E-4985-BB93-38B153242BFF}" destId="{13400EBC-C7EA-465C-A79D-D13B43525B93}" srcOrd="4" destOrd="0" parTransId="{537FF5C6-6593-4516-8E42-3C28CFAB0B99}" sibTransId="{86A6D12C-2AD0-4CB8-BEB3-03DA84546787}"/>
    <dgm:cxn modelId="{A0EC36C1-FC11-4ADC-9D26-EC631EDD2663}" srcId="{5E7DD563-B71E-4985-BB93-38B153242BFF}" destId="{C4210553-B382-4706-807C-E1D7C0F3A965}" srcOrd="2" destOrd="0" parTransId="{E9EB0339-522C-41D2-AD10-A75E40D19EDA}" sibTransId="{05B9B847-BC5D-4494-A70E-1629185238E6}"/>
    <dgm:cxn modelId="{4DD6ABDA-361D-4C44-BC7D-D0F5908BCA2C}" type="presOf" srcId="{C4210553-B382-4706-807C-E1D7C0F3A965}" destId="{DEA6286B-C5E6-4218-AC52-F966E67B9A76}" srcOrd="0" destOrd="0" presId="urn:microsoft.com/office/officeart/2018/2/layout/IconVerticalSolidList"/>
    <dgm:cxn modelId="{FE8029EF-051A-420A-8ADF-F05A743850CC}" type="presOf" srcId="{13400EBC-C7EA-465C-A79D-D13B43525B93}" destId="{BC9C4FB7-2449-42AC-99E3-4BDD7E7B8B15}" srcOrd="0" destOrd="0" presId="urn:microsoft.com/office/officeart/2018/2/layout/IconVerticalSolidList"/>
    <dgm:cxn modelId="{2768D0BF-434B-4237-9357-924766583297}" type="presParOf" srcId="{10DC8D6E-2B68-4A2C-A56F-86DCA210C87F}" destId="{3C262205-442C-49E3-9634-A1140F8C42F3}" srcOrd="0" destOrd="0" presId="urn:microsoft.com/office/officeart/2018/2/layout/IconVerticalSolidList"/>
    <dgm:cxn modelId="{DE7E66D4-6E56-45B1-ADAE-E181248CA0B2}" type="presParOf" srcId="{3C262205-442C-49E3-9634-A1140F8C42F3}" destId="{B0966CED-0454-4145-8F4F-6CC643201A15}" srcOrd="0" destOrd="0" presId="urn:microsoft.com/office/officeart/2018/2/layout/IconVerticalSolidList"/>
    <dgm:cxn modelId="{4BCE8657-B074-4CC4-BDF5-712AF1B1D5FC}" type="presParOf" srcId="{3C262205-442C-49E3-9634-A1140F8C42F3}" destId="{DE6AF0F3-8161-4113-A728-7190713A99D9}" srcOrd="1" destOrd="0" presId="urn:microsoft.com/office/officeart/2018/2/layout/IconVerticalSolidList"/>
    <dgm:cxn modelId="{9A6E8B9B-9EEB-41A9-87CD-DB1D9B81FEDA}" type="presParOf" srcId="{3C262205-442C-49E3-9634-A1140F8C42F3}" destId="{23119D9D-C6B2-463B-AB7F-261FB89ADFCF}" srcOrd="2" destOrd="0" presId="urn:microsoft.com/office/officeart/2018/2/layout/IconVerticalSolidList"/>
    <dgm:cxn modelId="{DB429944-9F67-4056-8F15-17F891F5C151}" type="presParOf" srcId="{3C262205-442C-49E3-9634-A1140F8C42F3}" destId="{61631AD2-C365-4214-9FD6-996F25B34C40}" srcOrd="3" destOrd="0" presId="urn:microsoft.com/office/officeart/2018/2/layout/IconVerticalSolidList"/>
    <dgm:cxn modelId="{DB6D2297-DF4B-4290-A6E2-C635B947C742}" type="presParOf" srcId="{10DC8D6E-2B68-4A2C-A56F-86DCA210C87F}" destId="{54012680-F01B-48A6-A3EB-419328B63D5F}" srcOrd="1" destOrd="0" presId="urn:microsoft.com/office/officeart/2018/2/layout/IconVerticalSolidList"/>
    <dgm:cxn modelId="{E1EB9B5D-D8BC-42A5-B4CD-096309BBD9CC}" type="presParOf" srcId="{10DC8D6E-2B68-4A2C-A56F-86DCA210C87F}" destId="{CD2AF67B-DC87-496A-A9C6-9AADC0799A5A}" srcOrd="2" destOrd="0" presId="urn:microsoft.com/office/officeart/2018/2/layout/IconVerticalSolidList"/>
    <dgm:cxn modelId="{B8E09C21-4C55-41A7-981B-3DA602CEE661}" type="presParOf" srcId="{CD2AF67B-DC87-496A-A9C6-9AADC0799A5A}" destId="{1B1D7D91-FA03-436D-8CB8-649FA8CE0746}" srcOrd="0" destOrd="0" presId="urn:microsoft.com/office/officeart/2018/2/layout/IconVerticalSolidList"/>
    <dgm:cxn modelId="{6B8136E2-623F-4277-880C-6E2816A26CC1}" type="presParOf" srcId="{CD2AF67B-DC87-496A-A9C6-9AADC0799A5A}" destId="{18363891-4CA1-4B78-AFAC-2D40CF091E4A}" srcOrd="1" destOrd="0" presId="urn:microsoft.com/office/officeart/2018/2/layout/IconVerticalSolidList"/>
    <dgm:cxn modelId="{E4147E1C-534E-4B65-92AC-EE5E428AE56D}" type="presParOf" srcId="{CD2AF67B-DC87-496A-A9C6-9AADC0799A5A}" destId="{496D82A8-4DB3-432E-9152-AB23489FFC93}" srcOrd="2" destOrd="0" presId="urn:microsoft.com/office/officeart/2018/2/layout/IconVerticalSolidList"/>
    <dgm:cxn modelId="{5119FC81-555E-449D-83F2-47FAE795F06A}" type="presParOf" srcId="{CD2AF67B-DC87-496A-A9C6-9AADC0799A5A}" destId="{74FA1B63-5478-4451-AC52-B4047ECAB6EB}" srcOrd="3" destOrd="0" presId="urn:microsoft.com/office/officeart/2018/2/layout/IconVerticalSolidList"/>
    <dgm:cxn modelId="{351F035D-9717-4A78-B4EC-909BCE059637}" type="presParOf" srcId="{10DC8D6E-2B68-4A2C-A56F-86DCA210C87F}" destId="{959BF9C0-1E9E-4190-BF9F-E2ADBC8912E6}" srcOrd="3" destOrd="0" presId="urn:microsoft.com/office/officeart/2018/2/layout/IconVerticalSolidList"/>
    <dgm:cxn modelId="{03F3141A-F3F1-47B2-B92F-1C408221843F}" type="presParOf" srcId="{10DC8D6E-2B68-4A2C-A56F-86DCA210C87F}" destId="{CC0B565B-B9E0-4FF2-BC00-21EAF5088FB3}" srcOrd="4" destOrd="0" presId="urn:microsoft.com/office/officeart/2018/2/layout/IconVerticalSolidList"/>
    <dgm:cxn modelId="{C819A501-D1BE-4D13-BC84-409745B47B51}" type="presParOf" srcId="{CC0B565B-B9E0-4FF2-BC00-21EAF5088FB3}" destId="{02A4CB6B-9F2C-42B2-AABA-7DEDD993FB47}" srcOrd="0" destOrd="0" presId="urn:microsoft.com/office/officeart/2018/2/layout/IconVerticalSolidList"/>
    <dgm:cxn modelId="{F1FDB437-F494-4893-84DA-255599898324}" type="presParOf" srcId="{CC0B565B-B9E0-4FF2-BC00-21EAF5088FB3}" destId="{D3C70381-AC87-42C9-9EDE-96234553910C}" srcOrd="1" destOrd="0" presId="urn:microsoft.com/office/officeart/2018/2/layout/IconVerticalSolidList"/>
    <dgm:cxn modelId="{B95A2B63-1BB9-499C-A05D-E527C9AED4EA}" type="presParOf" srcId="{CC0B565B-B9E0-4FF2-BC00-21EAF5088FB3}" destId="{3E4CE0B0-EC8E-4EB8-91DD-00757F3B4E15}" srcOrd="2" destOrd="0" presId="urn:microsoft.com/office/officeart/2018/2/layout/IconVerticalSolidList"/>
    <dgm:cxn modelId="{AB273317-FA9C-4169-9C7A-E6A0B91D57D4}" type="presParOf" srcId="{CC0B565B-B9E0-4FF2-BC00-21EAF5088FB3}" destId="{DEA6286B-C5E6-4218-AC52-F966E67B9A76}" srcOrd="3" destOrd="0" presId="urn:microsoft.com/office/officeart/2018/2/layout/IconVerticalSolidList"/>
    <dgm:cxn modelId="{3116E117-B0DD-45C4-971F-E85F29E0A0D5}" type="presParOf" srcId="{10DC8D6E-2B68-4A2C-A56F-86DCA210C87F}" destId="{4184848A-0D2C-4833-A6EB-4494E40D5DF4}" srcOrd="5" destOrd="0" presId="urn:microsoft.com/office/officeart/2018/2/layout/IconVerticalSolidList"/>
    <dgm:cxn modelId="{7C2C2590-7C96-4958-A417-ECFDE1FD2403}" type="presParOf" srcId="{10DC8D6E-2B68-4A2C-A56F-86DCA210C87F}" destId="{83918F2F-4880-4063-B80E-D5A2048A4477}" srcOrd="6" destOrd="0" presId="urn:microsoft.com/office/officeart/2018/2/layout/IconVerticalSolidList"/>
    <dgm:cxn modelId="{B4F22079-59DF-479B-A139-91A8EA0FA893}" type="presParOf" srcId="{83918F2F-4880-4063-B80E-D5A2048A4477}" destId="{B98F1DAA-ABA8-4FCF-8EDE-CA4AAD7EF461}" srcOrd="0" destOrd="0" presId="urn:microsoft.com/office/officeart/2018/2/layout/IconVerticalSolidList"/>
    <dgm:cxn modelId="{B1782F2A-0372-4EE2-8152-A6D7E80C1CE2}" type="presParOf" srcId="{83918F2F-4880-4063-B80E-D5A2048A4477}" destId="{FF41180E-FDC5-4DE7-8320-B176C1DFDBD8}" srcOrd="1" destOrd="0" presId="urn:microsoft.com/office/officeart/2018/2/layout/IconVerticalSolidList"/>
    <dgm:cxn modelId="{018C5391-A85A-4FF7-9FE1-2DC39AE8BFDC}" type="presParOf" srcId="{83918F2F-4880-4063-B80E-D5A2048A4477}" destId="{60B91988-D398-4C67-BED5-A8B5C2CF0FB5}" srcOrd="2" destOrd="0" presId="urn:microsoft.com/office/officeart/2018/2/layout/IconVerticalSolidList"/>
    <dgm:cxn modelId="{79F3BFA3-3546-4E16-8397-4E7C1951E86F}" type="presParOf" srcId="{83918F2F-4880-4063-B80E-D5A2048A4477}" destId="{C56EA718-F96E-4122-BD30-22CE1B22ED92}" srcOrd="3" destOrd="0" presId="urn:microsoft.com/office/officeart/2018/2/layout/IconVerticalSolidList"/>
    <dgm:cxn modelId="{7EB10F00-50BF-4DD0-89D7-D7D77A11DA65}" type="presParOf" srcId="{10DC8D6E-2B68-4A2C-A56F-86DCA210C87F}" destId="{53A9E092-F38C-4A43-9C0D-29F493FF9583}" srcOrd="7" destOrd="0" presId="urn:microsoft.com/office/officeart/2018/2/layout/IconVerticalSolidList"/>
    <dgm:cxn modelId="{D0E2FCB9-5E21-4199-A1EC-1B805A27114E}" type="presParOf" srcId="{10DC8D6E-2B68-4A2C-A56F-86DCA210C87F}" destId="{2C483DC9-F378-48F0-A04D-3F4001290EBE}" srcOrd="8" destOrd="0" presId="urn:microsoft.com/office/officeart/2018/2/layout/IconVerticalSolidList"/>
    <dgm:cxn modelId="{A6847237-CB2B-4E09-ACA8-12EA76DB7FCD}" type="presParOf" srcId="{2C483DC9-F378-48F0-A04D-3F4001290EBE}" destId="{457A4B99-D28F-4F24-B0A5-97277BE540F0}" srcOrd="0" destOrd="0" presId="urn:microsoft.com/office/officeart/2018/2/layout/IconVerticalSolidList"/>
    <dgm:cxn modelId="{69D57825-1415-4792-9BED-240345216E5A}" type="presParOf" srcId="{2C483DC9-F378-48F0-A04D-3F4001290EBE}" destId="{1A398C87-3B0C-4A72-BCCA-08B48D296F2B}" srcOrd="1" destOrd="0" presId="urn:microsoft.com/office/officeart/2018/2/layout/IconVerticalSolidList"/>
    <dgm:cxn modelId="{DC5FE2AA-36DA-44A8-ABBA-BC72C255A816}" type="presParOf" srcId="{2C483DC9-F378-48F0-A04D-3F4001290EBE}" destId="{8457D0DC-AF08-4B15-864E-BB10B63FB340}" srcOrd="2" destOrd="0" presId="urn:microsoft.com/office/officeart/2018/2/layout/IconVerticalSolidList"/>
    <dgm:cxn modelId="{66811636-3A18-4126-8A46-3026CAD0B383}" type="presParOf" srcId="{2C483DC9-F378-48F0-A04D-3F4001290EBE}" destId="{BC9C4FB7-2449-42AC-99E3-4BDD7E7B8B15}" srcOrd="3" destOrd="0" presId="urn:microsoft.com/office/officeart/2018/2/layout/IconVerticalSolidList"/>
    <dgm:cxn modelId="{144C4BEF-F349-489F-BBF3-F4D74D638A45}" type="presParOf" srcId="{10DC8D6E-2B68-4A2C-A56F-86DCA210C87F}" destId="{93755F5E-65E6-459E-9116-3456FAA09617}" srcOrd="9" destOrd="0" presId="urn:microsoft.com/office/officeart/2018/2/layout/IconVerticalSolidList"/>
    <dgm:cxn modelId="{B86CA8EE-52BD-44E9-8719-1CAEE5F159D8}" type="presParOf" srcId="{10DC8D6E-2B68-4A2C-A56F-86DCA210C87F}" destId="{28362E52-C825-48AF-8F91-9440494043A4}" srcOrd="10" destOrd="0" presId="urn:microsoft.com/office/officeart/2018/2/layout/IconVerticalSolidList"/>
    <dgm:cxn modelId="{AE2CE640-926B-4A23-BB66-4968A5BE3D17}" type="presParOf" srcId="{28362E52-C825-48AF-8F91-9440494043A4}" destId="{AA559544-8856-4766-A2C8-E4511C89E34E}" srcOrd="0" destOrd="0" presId="urn:microsoft.com/office/officeart/2018/2/layout/IconVerticalSolidList"/>
    <dgm:cxn modelId="{CD5D8164-BB2C-4A8D-B081-665B57B3E31C}" type="presParOf" srcId="{28362E52-C825-48AF-8F91-9440494043A4}" destId="{045F1D8F-40EC-4606-82F9-A394184DC94F}" srcOrd="1" destOrd="0" presId="urn:microsoft.com/office/officeart/2018/2/layout/IconVerticalSolidList"/>
    <dgm:cxn modelId="{CD6EB651-2591-446C-8426-54D70C1A6EBC}" type="presParOf" srcId="{28362E52-C825-48AF-8F91-9440494043A4}" destId="{18529818-08DC-445C-A5CE-084CFFB18949}" srcOrd="2" destOrd="0" presId="urn:microsoft.com/office/officeart/2018/2/layout/IconVerticalSolidList"/>
    <dgm:cxn modelId="{09D1F85E-603B-485E-893D-7A750913EBFC}" type="presParOf" srcId="{28362E52-C825-48AF-8F91-9440494043A4}" destId="{719C39D5-7438-4C88-AD54-C1DF270975B2}" srcOrd="3" destOrd="0" presId="urn:microsoft.com/office/officeart/2018/2/layout/IconVerticalSolidList"/>
    <dgm:cxn modelId="{4C968C11-4FD7-4925-8C2C-2E9765951FEF}" type="presParOf" srcId="{10DC8D6E-2B68-4A2C-A56F-86DCA210C87F}" destId="{F0099D04-9BE2-42F9-95C2-B0611627AEC6}" srcOrd="11" destOrd="0" presId="urn:microsoft.com/office/officeart/2018/2/layout/IconVerticalSolidList"/>
    <dgm:cxn modelId="{3410D775-6B18-4763-995E-C2CD3C3101B1}" type="presParOf" srcId="{10DC8D6E-2B68-4A2C-A56F-86DCA210C87F}" destId="{F807005B-3347-46A8-A672-2783DDD7F118}" srcOrd="12" destOrd="0" presId="urn:microsoft.com/office/officeart/2018/2/layout/IconVerticalSolidList"/>
    <dgm:cxn modelId="{3494BB7B-59AA-4334-B1F3-063B277E5E9C}" type="presParOf" srcId="{F807005B-3347-46A8-A672-2783DDD7F118}" destId="{20942563-9E20-4633-A955-AAB29DF46AB9}" srcOrd="0" destOrd="0" presId="urn:microsoft.com/office/officeart/2018/2/layout/IconVerticalSolidList"/>
    <dgm:cxn modelId="{4AFBA0F7-B869-4A0B-9C4C-24C87ECC230A}" type="presParOf" srcId="{F807005B-3347-46A8-A672-2783DDD7F118}" destId="{83B76167-9AEC-4C9F-9501-22080AE34EA0}" srcOrd="1" destOrd="0" presId="urn:microsoft.com/office/officeart/2018/2/layout/IconVerticalSolidList"/>
    <dgm:cxn modelId="{A3A5CB3C-D066-442D-A9B8-BBA023945F19}" type="presParOf" srcId="{F807005B-3347-46A8-A672-2783DDD7F118}" destId="{7922601C-332D-4807-9589-8C2CA743FC13}" srcOrd="2" destOrd="0" presId="urn:microsoft.com/office/officeart/2018/2/layout/IconVerticalSolidList"/>
    <dgm:cxn modelId="{5C32AB2A-EA8F-4EFA-8938-C7362C1A0941}" type="presParOf" srcId="{F807005B-3347-46A8-A672-2783DDD7F118}" destId="{502F41BD-39EE-4E08-9388-8219A8DD597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D7138F-1ECA-4B34-9480-895EFCDDAB13}" type="doc">
      <dgm:prSet loTypeId="urn:microsoft.com/office/officeart/2005/8/layout/matrix3" loCatId="matrix" qsTypeId="urn:microsoft.com/office/officeart/2005/8/quickstyle/simple1" qsCatId="simple" csTypeId="urn:microsoft.com/office/officeart/2005/8/colors/accent4_2" csCatId="accent4" phldr="1"/>
      <dgm:spPr/>
      <dgm:t>
        <a:bodyPr/>
        <a:lstStyle/>
        <a:p>
          <a:endParaRPr lang="en-US"/>
        </a:p>
      </dgm:t>
    </dgm:pt>
    <dgm:pt modelId="{98F20EE9-A0BF-45D9-8698-CB1179B1D1BE}">
      <dgm:prSet/>
      <dgm:spPr/>
      <dgm:t>
        <a:bodyPr/>
        <a:lstStyle/>
        <a:p>
          <a:r>
            <a:rPr lang="en-US"/>
            <a:t>Key segments: professionals, tourists, outdoor users.</a:t>
          </a:r>
        </a:p>
      </dgm:t>
    </dgm:pt>
    <dgm:pt modelId="{1FCC59F8-ECD1-4CE5-B70E-26C6E4970609}" type="parTrans" cxnId="{1F6DB32E-17BE-4B93-BB7C-EAB3DD233756}">
      <dgm:prSet/>
      <dgm:spPr/>
      <dgm:t>
        <a:bodyPr/>
        <a:lstStyle/>
        <a:p>
          <a:endParaRPr lang="en-US"/>
        </a:p>
      </dgm:t>
    </dgm:pt>
    <dgm:pt modelId="{78E1808B-C705-4E6D-B151-503A80E50519}" type="sibTrans" cxnId="{1F6DB32E-17BE-4B93-BB7C-EAB3DD233756}">
      <dgm:prSet/>
      <dgm:spPr/>
      <dgm:t>
        <a:bodyPr/>
        <a:lstStyle/>
        <a:p>
          <a:endParaRPr lang="en-US"/>
        </a:p>
      </dgm:t>
    </dgm:pt>
    <dgm:pt modelId="{6E497677-52B2-43F1-AF1F-000474396D9A}">
      <dgm:prSet/>
      <dgm:spPr/>
      <dgm:t>
        <a:bodyPr/>
        <a:lstStyle/>
        <a:p>
          <a:r>
            <a:rPr lang="en-US"/>
            <a:t>Customers want fast, convenient, sustainable charging.</a:t>
          </a:r>
        </a:p>
      </dgm:t>
    </dgm:pt>
    <dgm:pt modelId="{B2AACEE4-4956-4AB4-910A-708E3CC9AEE8}" type="parTrans" cxnId="{71B13513-7C48-4ED6-9B83-21BFE174A896}">
      <dgm:prSet/>
      <dgm:spPr/>
      <dgm:t>
        <a:bodyPr/>
        <a:lstStyle/>
        <a:p>
          <a:endParaRPr lang="en-US"/>
        </a:p>
      </dgm:t>
    </dgm:pt>
    <dgm:pt modelId="{89786BEA-6A06-4DC1-8E20-172338020552}" type="sibTrans" cxnId="{71B13513-7C48-4ED6-9B83-21BFE174A896}">
      <dgm:prSet/>
      <dgm:spPr/>
      <dgm:t>
        <a:bodyPr/>
        <a:lstStyle/>
        <a:p>
          <a:endParaRPr lang="en-US"/>
        </a:p>
      </dgm:t>
    </dgm:pt>
    <dgm:pt modelId="{05CF820D-3AE9-42EF-A189-3316BB0E0A59}">
      <dgm:prSet/>
      <dgm:spPr/>
      <dgm:t>
        <a:bodyPr/>
        <a:lstStyle/>
        <a:p>
          <a:r>
            <a:rPr lang="en-US" dirty="0"/>
            <a:t>UK buyers willing to pay for premium eco-tech.</a:t>
          </a:r>
        </a:p>
      </dgm:t>
    </dgm:pt>
    <dgm:pt modelId="{3E1C3BF4-0ECB-435E-83A4-08E8FECFDD00}" type="parTrans" cxnId="{0AAB626C-A798-49CE-9500-639F198EC708}">
      <dgm:prSet/>
      <dgm:spPr/>
      <dgm:t>
        <a:bodyPr/>
        <a:lstStyle/>
        <a:p>
          <a:endParaRPr lang="en-US"/>
        </a:p>
      </dgm:t>
    </dgm:pt>
    <dgm:pt modelId="{5CFB01ED-6EC1-41C3-AC27-3A460D09B97C}" type="sibTrans" cxnId="{0AAB626C-A798-49CE-9500-639F198EC708}">
      <dgm:prSet/>
      <dgm:spPr/>
      <dgm:t>
        <a:bodyPr/>
        <a:lstStyle/>
        <a:p>
          <a:endParaRPr lang="en-US"/>
        </a:p>
      </dgm:t>
    </dgm:pt>
    <dgm:pt modelId="{9C375244-3EAA-40D3-8B90-CF678114A40D}">
      <dgm:prSet/>
      <dgm:spPr/>
      <dgm:t>
        <a:bodyPr/>
        <a:lstStyle/>
        <a:p>
          <a:r>
            <a:rPr lang="en-US"/>
            <a:t>Cultural preference for trusted, high-quality brands.</a:t>
          </a:r>
        </a:p>
      </dgm:t>
    </dgm:pt>
    <dgm:pt modelId="{7B10AFA8-0D92-48F3-9175-57A771AA1CA5}" type="parTrans" cxnId="{99FDE704-EBE8-425F-9838-711ECF8DB281}">
      <dgm:prSet/>
      <dgm:spPr/>
      <dgm:t>
        <a:bodyPr/>
        <a:lstStyle/>
        <a:p>
          <a:endParaRPr lang="en-US"/>
        </a:p>
      </dgm:t>
    </dgm:pt>
    <dgm:pt modelId="{D5161A2E-821C-4A07-A2B7-465A9CECFC8C}" type="sibTrans" cxnId="{99FDE704-EBE8-425F-9838-711ECF8DB281}">
      <dgm:prSet/>
      <dgm:spPr/>
      <dgm:t>
        <a:bodyPr/>
        <a:lstStyle/>
        <a:p>
          <a:endParaRPr lang="en-US"/>
        </a:p>
      </dgm:t>
    </dgm:pt>
    <dgm:pt modelId="{2891CFB4-4E43-47ED-B0B3-B7C28CFE1A1B}" type="pres">
      <dgm:prSet presAssocID="{12D7138F-1ECA-4B34-9480-895EFCDDAB13}" presName="matrix" presStyleCnt="0">
        <dgm:presLayoutVars>
          <dgm:chMax val="1"/>
          <dgm:dir/>
          <dgm:resizeHandles val="exact"/>
        </dgm:presLayoutVars>
      </dgm:prSet>
      <dgm:spPr/>
    </dgm:pt>
    <dgm:pt modelId="{E5578993-BB91-471E-B6A4-C172ED608C22}" type="pres">
      <dgm:prSet presAssocID="{12D7138F-1ECA-4B34-9480-895EFCDDAB13}" presName="diamond" presStyleLbl="bgShp" presStyleIdx="0" presStyleCnt="1"/>
      <dgm:spPr/>
    </dgm:pt>
    <dgm:pt modelId="{527F6021-DFCE-41C0-81B9-0DFE2C28913E}" type="pres">
      <dgm:prSet presAssocID="{12D7138F-1ECA-4B34-9480-895EFCDDAB13}" presName="quad1" presStyleLbl="node1" presStyleIdx="0" presStyleCnt="4">
        <dgm:presLayoutVars>
          <dgm:chMax val="0"/>
          <dgm:chPref val="0"/>
          <dgm:bulletEnabled val="1"/>
        </dgm:presLayoutVars>
      </dgm:prSet>
      <dgm:spPr/>
    </dgm:pt>
    <dgm:pt modelId="{E7324360-3D35-47BB-8919-6C67E3CD4418}" type="pres">
      <dgm:prSet presAssocID="{12D7138F-1ECA-4B34-9480-895EFCDDAB13}" presName="quad2" presStyleLbl="node1" presStyleIdx="1" presStyleCnt="4">
        <dgm:presLayoutVars>
          <dgm:chMax val="0"/>
          <dgm:chPref val="0"/>
          <dgm:bulletEnabled val="1"/>
        </dgm:presLayoutVars>
      </dgm:prSet>
      <dgm:spPr/>
    </dgm:pt>
    <dgm:pt modelId="{8FB86194-3319-44A3-861B-7DC5F13DD1BA}" type="pres">
      <dgm:prSet presAssocID="{12D7138F-1ECA-4B34-9480-895EFCDDAB13}" presName="quad3" presStyleLbl="node1" presStyleIdx="2" presStyleCnt="4">
        <dgm:presLayoutVars>
          <dgm:chMax val="0"/>
          <dgm:chPref val="0"/>
          <dgm:bulletEnabled val="1"/>
        </dgm:presLayoutVars>
      </dgm:prSet>
      <dgm:spPr/>
    </dgm:pt>
    <dgm:pt modelId="{F3B999B5-3C84-466F-ACE1-5682050AFC58}" type="pres">
      <dgm:prSet presAssocID="{12D7138F-1ECA-4B34-9480-895EFCDDAB13}" presName="quad4" presStyleLbl="node1" presStyleIdx="3" presStyleCnt="4">
        <dgm:presLayoutVars>
          <dgm:chMax val="0"/>
          <dgm:chPref val="0"/>
          <dgm:bulletEnabled val="1"/>
        </dgm:presLayoutVars>
      </dgm:prSet>
      <dgm:spPr/>
    </dgm:pt>
  </dgm:ptLst>
  <dgm:cxnLst>
    <dgm:cxn modelId="{99FDE704-EBE8-425F-9838-711ECF8DB281}" srcId="{12D7138F-1ECA-4B34-9480-895EFCDDAB13}" destId="{9C375244-3EAA-40D3-8B90-CF678114A40D}" srcOrd="3" destOrd="0" parTransId="{7B10AFA8-0D92-48F3-9175-57A771AA1CA5}" sibTransId="{D5161A2E-821C-4A07-A2B7-465A9CECFC8C}"/>
    <dgm:cxn modelId="{71B13513-7C48-4ED6-9B83-21BFE174A896}" srcId="{12D7138F-1ECA-4B34-9480-895EFCDDAB13}" destId="{6E497677-52B2-43F1-AF1F-000474396D9A}" srcOrd="1" destOrd="0" parTransId="{B2AACEE4-4956-4AB4-910A-708E3CC9AEE8}" sibTransId="{89786BEA-6A06-4DC1-8E20-172338020552}"/>
    <dgm:cxn modelId="{1F6DB32E-17BE-4B93-BB7C-EAB3DD233756}" srcId="{12D7138F-1ECA-4B34-9480-895EFCDDAB13}" destId="{98F20EE9-A0BF-45D9-8698-CB1179B1D1BE}" srcOrd="0" destOrd="0" parTransId="{1FCC59F8-ECD1-4CE5-B70E-26C6E4970609}" sibTransId="{78E1808B-C705-4E6D-B151-503A80E50519}"/>
    <dgm:cxn modelId="{0AAB626C-A798-49CE-9500-639F198EC708}" srcId="{12D7138F-1ECA-4B34-9480-895EFCDDAB13}" destId="{05CF820D-3AE9-42EF-A189-3316BB0E0A59}" srcOrd="2" destOrd="0" parTransId="{3E1C3BF4-0ECB-435E-83A4-08E8FECFDD00}" sibTransId="{5CFB01ED-6EC1-41C3-AC27-3A460D09B97C}"/>
    <dgm:cxn modelId="{DD84B84E-9EB2-4536-8E99-B6268D7806BD}" type="presOf" srcId="{98F20EE9-A0BF-45D9-8698-CB1179B1D1BE}" destId="{527F6021-DFCE-41C0-81B9-0DFE2C28913E}" srcOrd="0" destOrd="0" presId="urn:microsoft.com/office/officeart/2005/8/layout/matrix3"/>
    <dgm:cxn modelId="{86EB0A72-526A-4F4F-83B2-F1396FB0939E}" type="presOf" srcId="{9C375244-3EAA-40D3-8B90-CF678114A40D}" destId="{F3B999B5-3C84-466F-ACE1-5682050AFC58}" srcOrd="0" destOrd="0" presId="urn:microsoft.com/office/officeart/2005/8/layout/matrix3"/>
    <dgm:cxn modelId="{72317A76-4954-45BD-AC3B-F91EC6F80222}" type="presOf" srcId="{6E497677-52B2-43F1-AF1F-000474396D9A}" destId="{E7324360-3D35-47BB-8919-6C67E3CD4418}" srcOrd="0" destOrd="0" presId="urn:microsoft.com/office/officeart/2005/8/layout/matrix3"/>
    <dgm:cxn modelId="{0D7DE48A-5EBF-4962-B447-8F36DDA33950}" type="presOf" srcId="{12D7138F-1ECA-4B34-9480-895EFCDDAB13}" destId="{2891CFB4-4E43-47ED-B0B3-B7C28CFE1A1B}" srcOrd="0" destOrd="0" presId="urn:microsoft.com/office/officeart/2005/8/layout/matrix3"/>
    <dgm:cxn modelId="{0EC0CDCC-9D6E-45EC-8CE4-A873C08B0EC2}" type="presOf" srcId="{05CF820D-3AE9-42EF-A189-3316BB0E0A59}" destId="{8FB86194-3319-44A3-861B-7DC5F13DD1BA}" srcOrd="0" destOrd="0" presId="urn:microsoft.com/office/officeart/2005/8/layout/matrix3"/>
    <dgm:cxn modelId="{ED2535EB-970C-41D8-9E7D-92E1D0FEAD77}" type="presParOf" srcId="{2891CFB4-4E43-47ED-B0B3-B7C28CFE1A1B}" destId="{E5578993-BB91-471E-B6A4-C172ED608C22}" srcOrd="0" destOrd="0" presId="urn:microsoft.com/office/officeart/2005/8/layout/matrix3"/>
    <dgm:cxn modelId="{451711BC-6BC1-4F62-98D9-865E74CE8C2F}" type="presParOf" srcId="{2891CFB4-4E43-47ED-B0B3-B7C28CFE1A1B}" destId="{527F6021-DFCE-41C0-81B9-0DFE2C28913E}" srcOrd="1" destOrd="0" presId="urn:microsoft.com/office/officeart/2005/8/layout/matrix3"/>
    <dgm:cxn modelId="{11B04D38-F487-4560-A951-C1D611ED1A3A}" type="presParOf" srcId="{2891CFB4-4E43-47ED-B0B3-B7C28CFE1A1B}" destId="{E7324360-3D35-47BB-8919-6C67E3CD4418}" srcOrd="2" destOrd="0" presId="urn:microsoft.com/office/officeart/2005/8/layout/matrix3"/>
    <dgm:cxn modelId="{AE92E2D3-DB14-4116-BDD7-C4370F0A3E75}" type="presParOf" srcId="{2891CFB4-4E43-47ED-B0B3-B7C28CFE1A1B}" destId="{8FB86194-3319-44A3-861B-7DC5F13DD1BA}" srcOrd="3" destOrd="0" presId="urn:microsoft.com/office/officeart/2005/8/layout/matrix3"/>
    <dgm:cxn modelId="{DAF72468-C4B8-4F07-A915-6DA79ACBA868}" type="presParOf" srcId="{2891CFB4-4E43-47ED-B0B3-B7C28CFE1A1B}" destId="{F3B999B5-3C84-466F-ACE1-5682050AFC58}"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41D21D-EC39-4849-A6CE-9BDEBA120F5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F0E0341-1B92-4BED-A954-55C36EF1B792}">
      <dgm:prSet/>
      <dgm:spPr/>
      <dgm:t>
        <a:bodyPr/>
        <a:lstStyle/>
        <a:p>
          <a:r>
            <a:rPr lang="en-US"/>
            <a:t>Mix of Uppsala (gradual learning) + Born Global (early expansion).</a:t>
          </a:r>
        </a:p>
      </dgm:t>
    </dgm:pt>
    <dgm:pt modelId="{C324B8A5-6083-48F6-AD3B-D4280E7DD4B1}" type="parTrans" cxnId="{5AABACBF-D9F0-42B7-8887-7D04D76D0C12}">
      <dgm:prSet/>
      <dgm:spPr/>
      <dgm:t>
        <a:bodyPr/>
        <a:lstStyle/>
        <a:p>
          <a:endParaRPr lang="en-US"/>
        </a:p>
      </dgm:t>
    </dgm:pt>
    <dgm:pt modelId="{F950EA8C-154B-4B60-B25B-9425920894F3}" type="sibTrans" cxnId="{5AABACBF-D9F0-42B7-8887-7D04D76D0C12}">
      <dgm:prSet/>
      <dgm:spPr/>
      <dgm:t>
        <a:bodyPr/>
        <a:lstStyle/>
        <a:p>
          <a:endParaRPr lang="en-US"/>
        </a:p>
      </dgm:t>
    </dgm:pt>
    <dgm:pt modelId="{C19FD36B-622D-43AD-B732-0F3FEE1174EB}">
      <dgm:prSet/>
      <dgm:spPr/>
      <dgm:t>
        <a:bodyPr/>
        <a:lstStyle/>
        <a:p>
          <a:r>
            <a:rPr lang="en-US"/>
            <a:t>High-tech nature enables rapid internationalisation.</a:t>
          </a:r>
        </a:p>
      </dgm:t>
    </dgm:pt>
    <dgm:pt modelId="{7066BDEB-C0A0-4CA3-BB47-F46049F1CBFB}" type="parTrans" cxnId="{6326C5D8-C7A8-42BD-8BBD-09E77A916D49}">
      <dgm:prSet/>
      <dgm:spPr/>
      <dgm:t>
        <a:bodyPr/>
        <a:lstStyle/>
        <a:p>
          <a:endParaRPr lang="en-US"/>
        </a:p>
      </dgm:t>
    </dgm:pt>
    <dgm:pt modelId="{91F934E4-0BC7-40F2-B119-B8EBC1E6C6F8}" type="sibTrans" cxnId="{6326C5D8-C7A8-42BD-8BBD-09E77A916D49}">
      <dgm:prSet/>
      <dgm:spPr/>
      <dgm:t>
        <a:bodyPr/>
        <a:lstStyle/>
        <a:p>
          <a:endParaRPr lang="en-US"/>
        </a:p>
      </dgm:t>
    </dgm:pt>
    <dgm:pt modelId="{EEDFC01C-3A40-4091-A937-9F38FBCC9C0B}">
      <dgm:prSet/>
      <dgm:spPr/>
      <dgm:t>
        <a:bodyPr/>
        <a:lstStyle/>
        <a:p>
          <a:r>
            <a:rPr lang="en-US" dirty="0"/>
            <a:t>Indirect exporting with UK partner reduces risk and boosts access.</a:t>
          </a:r>
        </a:p>
      </dgm:t>
    </dgm:pt>
    <dgm:pt modelId="{41356336-9F83-42B7-B630-008B61DCDE76}" type="parTrans" cxnId="{F1DD60B4-D14D-4AD3-AFA7-6CF5AB27DC98}">
      <dgm:prSet/>
      <dgm:spPr/>
      <dgm:t>
        <a:bodyPr/>
        <a:lstStyle/>
        <a:p>
          <a:endParaRPr lang="en-US"/>
        </a:p>
      </dgm:t>
    </dgm:pt>
    <dgm:pt modelId="{446160D4-E864-408F-BD7A-3626E82536DC}" type="sibTrans" cxnId="{F1DD60B4-D14D-4AD3-AFA7-6CF5AB27DC98}">
      <dgm:prSet/>
      <dgm:spPr/>
      <dgm:t>
        <a:bodyPr/>
        <a:lstStyle/>
        <a:p>
          <a:endParaRPr lang="en-US"/>
        </a:p>
      </dgm:t>
    </dgm:pt>
    <dgm:pt modelId="{5D24F187-DC65-40A6-BEF0-1ED9F99D7290}">
      <dgm:prSet/>
      <dgm:spPr/>
      <dgm:t>
        <a:bodyPr/>
        <a:lstStyle/>
        <a:p>
          <a:r>
            <a:rPr lang="en-US"/>
            <a:t>Supports retail visibility and fast scaling.</a:t>
          </a:r>
        </a:p>
      </dgm:t>
    </dgm:pt>
    <dgm:pt modelId="{F887C2F9-2BDD-43A4-ACA0-F2CD9BF32447}" type="parTrans" cxnId="{18852F6C-AD44-4525-B23F-25F57AA1434F}">
      <dgm:prSet/>
      <dgm:spPr/>
      <dgm:t>
        <a:bodyPr/>
        <a:lstStyle/>
        <a:p>
          <a:endParaRPr lang="en-US"/>
        </a:p>
      </dgm:t>
    </dgm:pt>
    <dgm:pt modelId="{4DC9A416-3054-4843-9DFD-C77D462A8461}" type="sibTrans" cxnId="{18852F6C-AD44-4525-B23F-25F57AA1434F}">
      <dgm:prSet/>
      <dgm:spPr/>
      <dgm:t>
        <a:bodyPr/>
        <a:lstStyle/>
        <a:p>
          <a:endParaRPr lang="en-US"/>
        </a:p>
      </dgm:t>
    </dgm:pt>
    <dgm:pt modelId="{86EED053-B0BB-479E-AC65-5255129058CA}" type="pres">
      <dgm:prSet presAssocID="{5341D21D-EC39-4849-A6CE-9BDEBA120F5D}" presName="linear" presStyleCnt="0">
        <dgm:presLayoutVars>
          <dgm:animLvl val="lvl"/>
          <dgm:resizeHandles val="exact"/>
        </dgm:presLayoutVars>
      </dgm:prSet>
      <dgm:spPr/>
    </dgm:pt>
    <dgm:pt modelId="{C71AC40B-87BE-40E1-9B6E-71BB814CDCB6}" type="pres">
      <dgm:prSet presAssocID="{3F0E0341-1B92-4BED-A954-55C36EF1B792}" presName="parentText" presStyleLbl="node1" presStyleIdx="0" presStyleCnt="4">
        <dgm:presLayoutVars>
          <dgm:chMax val="0"/>
          <dgm:bulletEnabled val="1"/>
        </dgm:presLayoutVars>
      </dgm:prSet>
      <dgm:spPr/>
    </dgm:pt>
    <dgm:pt modelId="{B91366A2-0DFD-4B76-88C1-9CCF30740E72}" type="pres">
      <dgm:prSet presAssocID="{F950EA8C-154B-4B60-B25B-9425920894F3}" presName="spacer" presStyleCnt="0"/>
      <dgm:spPr/>
    </dgm:pt>
    <dgm:pt modelId="{1DF3C0C1-430A-4B46-BE5B-A702DE0372F5}" type="pres">
      <dgm:prSet presAssocID="{C19FD36B-622D-43AD-B732-0F3FEE1174EB}" presName="parentText" presStyleLbl="node1" presStyleIdx="1" presStyleCnt="4">
        <dgm:presLayoutVars>
          <dgm:chMax val="0"/>
          <dgm:bulletEnabled val="1"/>
        </dgm:presLayoutVars>
      </dgm:prSet>
      <dgm:spPr/>
    </dgm:pt>
    <dgm:pt modelId="{26308FCD-8A83-49A4-B60E-B93762A98C96}" type="pres">
      <dgm:prSet presAssocID="{91F934E4-0BC7-40F2-B119-B8EBC1E6C6F8}" presName="spacer" presStyleCnt="0"/>
      <dgm:spPr/>
    </dgm:pt>
    <dgm:pt modelId="{012230FF-CE40-401E-B788-5171ED6B8C93}" type="pres">
      <dgm:prSet presAssocID="{EEDFC01C-3A40-4091-A937-9F38FBCC9C0B}" presName="parentText" presStyleLbl="node1" presStyleIdx="2" presStyleCnt="4">
        <dgm:presLayoutVars>
          <dgm:chMax val="0"/>
          <dgm:bulletEnabled val="1"/>
        </dgm:presLayoutVars>
      </dgm:prSet>
      <dgm:spPr/>
    </dgm:pt>
    <dgm:pt modelId="{17AF0B44-83F8-4485-AC3E-14CFBB2DA60A}" type="pres">
      <dgm:prSet presAssocID="{446160D4-E864-408F-BD7A-3626E82536DC}" presName="spacer" presStyleCnt="0"/>
      <dgm:spPr/>
    </dgm:pt>
    <dgm:pt modelId="{4D80BAEF-B64F-4B10-A0BD-B69040B35269}" type="pres">
      <dgm:prSet presAssocID="{5D24F187-DC65-40A6-BEF0-1ED9F99D7290}" presName="parentText" presStyleLbl="node1" presStyleIdx="3" presStyleCnt="4">
        <dgm:presLayoutVars>
          <dgm:chMax val="0"/>
          <dgm:bulletEnabled val="1"/>
        </dgm:presLayoutVars>
      </dgm:prSet>
      <dgm:spPr/>
    </dgm:pt>
  </dgm:ptLst>
  <dgm:cxnLst>
    <dgm:cxn modelId="{756FE731-DFE6-4490-862B-845E5E31DE99}" type="presOf" srcId="{5341D21D-EC39-4849-A6CE-9BDEBA120F5D}" destId="{86EED053-B0BB-479E-AC65-5255129058CA}" srcOrd="0" destOrd="0" presId="urn:microsoft.com/office/officeart/2005/8/layout/vList2"/>
    <dgm:cxn modelId="{4E99DC42-957F-486D-8E6A-65667E1CE833}" type="presOf" srcId="{C19FD36B-622D-43AD-B732-0F3FEE1174EB}" destId="{1DF3C0C1-430A-4B46-BE5B-A702DE0372F5}" srcOrd="0" destOrd="0" presId="urn:microsoft.com/office/officeart/2005/8/layout/vList2"/>
    <dgm:cxn modelId="{50CFA647-6BE2-4478-A5B2-0F039C2568EA}" type="presOf" srcId="{5D24F187-DC65-40A6-BEF0-1ED9F99D7290}" destId="{4D80BAEF-B64F-4B10-A0BD-B69040B35269}" srcOrd="0" destOrd="0" presId="urn:microsoft.com/office/officeart/2005/8/layout/vList2"/>
    <dgm:cxn modelId="{18852F6C-AD44-4525-B23F-25F57AA1434F}" srcId="{5341D21D-EC39-4849-A6CE-9BDEBA120F5D}" destId="{5D24F187-DC65-40A6-BEF0-1ED9F99D7290}" srcOrd="3" destOrd="0" parTransId="{F887C2F9-2BDD-43A4-ACA0-F2CD9BF32447}" sibTransId="{4DC9A416-3054-4843-9DFD-C77D462A8461}"/>
    <dgm:cxn modelId="{B672478E-AD1D-4A14-A98A-412C0882380E}" type="presOf" srcId="{3F0E0341-1B92-4BED-A954-55C36EF1B792}" destId="{C71AC40B-87BE-40E1-9B6E-71BB814CDCB6}" srcOrd="0" destOrd="0" presId="urn:microsoft.com/office/officeart/2005/8/layout/vList2"/>
    <dgm:cxn modelId="{AE80758F-CDB9-414C-AC0D-A31E154E2D53}" type="presOf" srcId="{EEDFC01C-3A40-4091-A937-9F38FBCC9C0B}" destId="{012230FF-CE40-401E-B788-5171ED6B8C93}" srcOrd="0" destOrd="0" presId="urn:microsoft.com/office/officeart/2005/8/layout/vList2"/>
    <dgm:cxn modelId="{F1DD60B4-D14D-4AD3-AFA7-6CF5AB27DC98}" srcId="{5341D21D-EC39-4849-A6CE-9BDEBA120F5D}" destId="{EEDFC01C-3A40-4091-A937-9F38FBCC9C0B}" srcOrd="2" destOrd="0" parTransId="{41356336-9F83-42B7-B630-008B61DCDE76}" sibTransId="{446160D4-E864-408F-BD7A-3626E82536DC}"/>
    <dgm:cxn modelId="{5AABACBF-D9F0-42B7-8887-7D04D76D0C12}" srcId="{5341D21D-EC39-4849-A6CE-9BDEBA120F5D}" destId="{3F0E0341-1B92-4BED-A954-55C36EF1B792}" srcOrd="0" destOrd="0" parTransId="{C324B8A5-6083-48F6-AD3B-D4280E7DD4B1}" sibTransId="{F950EA8C-154B-4B60-B25B-9425920894F3}"/>
    <dgm:cxn modelId="{6326C5D8-C7A8-42BD-8BBD-09E77A916D49}" srcId="{5341D21D-EC39-4849-A6CE-9BDEBA120F5D}" destId="{C19FD36B-622D-43AD-B732-0F3FEE1174EB}" srcOrd="1" destOrd="0" parTransId="{7066BDEB-C0A0-4CA3-BB47-F46049F1CBFB}" sibTransId="{91F934E4-0BC7-40F2-B119-B8EBC1E6C6F8}"/>
    <dgm:cxn modelId="{77BBF4C8-16F0-4F5D-9C05-6A68A7B65E34}" type="presParOf" srcId="{86EED053-B0BB-479E-AC65-5255129058CA}" destId="{C71AC40B-87BE-40E1-9B6E-71BB814CDCB6}" srcOrd="0" destOrd="0" presId="urn:microsoft.com/office/officeart/2005/8/layout/vList2"/>
    <dgm:cxn modelId="{87176BCF-C32D-4CBA-923B-71E0EB7EDA29}" type="presParOf" srcId="{86EED053-B0BB-479E-AC65-5255129058CA}" destId="{B91366A2-0DFD-4B76-88C1-9CCF30740E72}" srcOrd="1" destOrd="0" presId="urn:microsoft.com/office/officeart/2005/8/layout/vList2"/>
    <dgm:cxn modelId="{2F56548F-B0EE-461F-9967-CC5F15D068EA}" type="presParOf" srcId="{86EED053-B0BB-479E-AC65-5255129058CA}" destId="{1DF3C0C1-430A-4B46-BE5B-A702DE0372F5}" srcOrd="2" destOrd="0" presId="urn:microsoft.com/office/officeart/2005/8/layout/vList2"/>
    <dgm:cxn modelId="{96C2263E-6418-44D8-B91E-1D728776A735}" type="presParOf" srcId="{86EED053-B0BB-479E-AC65-5255129058CA}" destId="{26308FCD-8A83-49A4-B60E-B93762A98C96}" srcOrd="3" destOrd="0" presId="urn:microsoft.com/office/officeart/2005/8/layout/vList2"/>
    <dgm:cxn modelId="{02138073-D19C-4A94-B720-928DBBDB2421}" type="presParOf" srcId="{86EED053-B0BB-479E-AC65-5255129058CA}" destId="{012230FF-CE40-401E-B788-5171ED6B8C93}" srcOrd="4" destOrd="0" presId="urn:microsoft.com/office/officeart/2005/8/layout/vList2"/>
    <dgm:cxn modelId="{4720118A-8A68-4752-B075-968CD15B645B}" type="presParOf" srcId="{86EED053-B0BB-479E-AC65-5255129058CA}" destId="{17AF0B44-83F8-4485-AC3E-14CFBB2DA60A}" srcOrd="5" destOrd="0" presId="urn:microsoft.com/office/officeart/2005/8/layout/vList2"/>
    <dgm:cxn modelId="{5D00C1A3-AE0E-4DFF-8495-5B8138DBD4E8}" type="presParOf" srcId="{86EED053-B0BB-479E-AC65-5255129058CA}" destId="{4D80BAEF-B64F-4B10-A0BD-B69040B3526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4A8E84-FA69-46DB-B5CD-FB3CC967ED96}" type="doc">
      <dgm:prSet loTypeId="urn:microsoft.com/office/officeart/2008/layout/LinedList" loCatId="list" qsTypeId="urn:microsoft.com/office/officeart/2005/8/quickstyle/simple1" qsCatId="simple" csTypeId="urn:microsoft.com/office/officeart/2005/8/colors/accent4_2" csCatId="accent4" phldr="1"/>
      <dgm:spPr/>
      <dgm:t>
        <a:bodyPr/>
        <a:lstStyle/>
        <a:p>
          <a:endParaRPr lang="en-US"/>
        </a:p>
      </dgm:t>
    </dgm:pt>
    <dgm:pt modelId="{C540CFD4-08FE-40DE-99D5-569CFA7CC45E}">
      <dgm:prSet/>
      <dgm:spPr/>
      <dgm:t>
        <a:bodyPr/>
        <a:lstStyle/>
        <a:p>
          <a:r>
            <a:rPr lang="en-US"/>
            <a:t>Manufacturing in UK with strict quality and IP control.</a:t>
          </a:r>
        </a:p>
      </dgm:t>
    </dgm:pt>
    <dgm:pt modelId="{41638714-7574-4444-AE0F-6D0ED5110611}" type="parTrans" cxnId="{1152B191-DC4D-4359-B053-05C3FDE8C7DA}">
      <dgm:prSet/>
      <dgm:spPr/>
      <dgm:t>
        <a:bodyPr/>
        <a:lstStyle/>
        <a:p>
          <a:endParaRPr lang="en-US"/>
        </a:p>
      </dgm:t>
    </dgm:pt>
    <dgm:pt modelId="{45104669-F77E-4891-AB40-9FDCED4930AA}" type="sibTrans" cxnId="{1152B191-DC4D-4359-B053-05C3FDE8C7DA}">
      <dgm:prSet/>
      <dgm:spPr/>
      <dgm:t>
        <a:bodyPr/>
        <a:lstStyle/>
        <a:p>
          <a:endParaRPr lang="en-US"/>
        </a:p>
      </dgm:t>
    </dgm:pt>
    <dgm:pt modelId="{94FB1383-10F7-4A5A-B17F-3546AAE0970B}">
      <dgm:prSet/>
      <dgm:spPr/>
      <dgm:t>
        <a:bodyPr/>
        <a:lstStyle/>
        <a:p>
          <a:r>
            <a:rPr lang="en-US" dirty="0"/>
            <a:t>Shipping to UK warehouses for distribution.</a:t>
          </a:r>
        </a:p>
      </dgm:t>
    </dgm:pt>
    <dgm:pt modelId="{D89629ED-F118-4FA4-B47F-DDFF1C6AF810}" type="parTrans" cxnId="{FAA36C82-769D-4B7C-876F-42B2842B205F}">
      <dgm:prSet/>
      <dgm:spPr/>
      <dgm:t>
        <a:bodyPr/>
        <a:lstStyle/>
        <a:p>
          <a:endParaRPr lang="en-US"/>
        </a:p>
      </dgm:t>
    </dgm:pt>
    <dgm:pt modelId="{1AC8C79D-E7F0-4941-88A6-73EC9F7D0CFF}" type="sibTrans" cxnId="{FAA36C82-769D-4B7C-876F-42B2842B205F}">
      <dgm:prSet/>
      <dgm:spPr/>
      <dgm:t>
        <a:bodyPr/>
        <a:lstStyle/>
        <a:p>
          <a:endParaRPr lang="en-US"/>
        </a:p>
      </dgm:t>
    </dgm:pt>
    <dgm:pt modelId="{7E478522-D18E-4BA8-9E7E-47507F6D0E47}">
      <dgm:prSet/>
      <dgm:spPr/>
      <dgm:t>
        <a:bodyPr/>
        <a:lstStyle/>
        <a:p>
          <a:r>
            <a:rPr lang="en-US"/>
            <a:t>Retail partnerships: Carrefour, Virgin, Sharaf DG, airports.</a:t>
          </a:r>
        </a:p>
      </dgm:t>
    </dgm:pt>
    <dgm:pt modelId="{22290941-A14C-4BBA-A08B-D772D75B2EEA}" type="parTrans" cxnId="{23297B51-0206-4A86-B55B-322A041DAB8B}">
      <dgm:prSet/>
      <dgm:spPr/>
      <dgm:t>
        <a:bodyPr/>
        <a:lstStyle/>
        <a:p>
          <a:endParaRPr lang="en-US"/>
        </a:p>
      </dgm:t>
    </dgm:pt>
    <dgm:pt modelId="{8F2F7097-567A-447E-990E-A728754D15AC}" type="sibTrans" cxnId="{23297B51-0206-4A86-B55B-322A041DAB8B}">
      <dgm:prSet/>
      <dgm:spPr/>
      <dgm:t>
        <a:bodyPr/>
        <a:lstStyle/>
        <a:p>
          <a:endParaRPr lang="en-US"/>
        </a:p>
      </dgm:t>
    </dgm:pt>
    <dgm:pt modelId="{9243C0D5-AD94-47CF-8545-534C3DCA586A}">
      <dgm:prSet/>
      <dgm:spPr/>
      <dgm:t>
        <a:bodyPr/>
        <a:lstStyle/>
        <a:p>
          <a:r>
            <a:rPr lang="en-US" dirty="0"/>
            <a:t>UK service partner manages after-sales.</a:t>
          </a:r>
        </a:p>
      </dgm:t>
    </dgm:pt>
    <dgm:pt modelId="{B64F9066-FF4D-4FBB-86CE-1DC8DE4ED98A}" type="parTrans" cxnId="{6AFF3A8E-405E-4BB0-BF30-5553284F723D}">
      <dgm:prSet/>
      <dgm:spPr/>
      <dgm:t>
        <a:bodyPr/>
        <a:lstStyle/>
        <a:p>
          <a:endParaRPr lang="en-US"/>
        </a:p>
      </dgm:t>
    </dgm:pt>
    <dgm:pt modelId="{52EA28A4-C893-4134-8A91-677A1194E12E}" type="sibTrans" cxnId="{6AFF3A8E-405E-4BB0-BF30-5553284F723D}">
      <dgm:prSet/>
      <dgm:spPr/>
      <dgm:t>
        <a:bodyPr/>
        <a:lstStyle/>
        <a:p>
          <a:endParaRPr lang="en-US"/>
        </a:p>
      </dgm:t>
    </dgm:pt>
    <dgm:pt modelId="{E149FD24-D162-4D4F-85AC-3A106EF604B6}" type="pres">
      <dgm:prSet presAssocID="{BA4A8E84-FA69-46DB-B5CD-FB3CC967ED96}" presName="vert0" presStyleCnt="0">
        <dgm:presLayoutVars>
          <dgm:dir/>
          <dgm:animOne val="branch"/>
          <dgm:animLvl val="lvl"/>
        </dgm:presLayoutVars>
      </dgm:prSet>
      <dgm:spPr/>
    </dgm:pt>
    <dgm:pt modelId="{D03C2B69-9B0C-4569-9FD6-A3BDA91B172A}" type="pres">
      <dgm:prSet presAssocID="{C540CFD4-08FE-40DE-99D5-569CFA7CC45E}" presName="thickLine" presStyleLbl="alignNode1" presStyleIdx="0" presStyleCnt="4"/>
      <dgm:spPr/>
    </dgm:pt>
    <dgm:pt modelId="{C1EC767A-0164-45CA-B8CA-55351C89D0BA}" type="pres">
      <dgm:prSet presAssocID="{C540CFD4-08FE-40DE-99D5-569CFA7CC45E}" presName="horz1" presStyleCnt="0"/>
      <dgm:spPr/>
    </dgm:pt>
    <dgm:pt modelId="{2C1F4C85-1434-48C8-89A3-B0F2DD09257A}" type="pres">
      <dgm:prSet presAssocID="{C540CFD4-08FE-40DE-99D5-569CFA7CC45E}" presName="tx1" presStyleLbl="revTx" presStyleIdx="0" presStyleCnt="4"/>
      <dgm:spPr/>
    </dgm:pt>
    <dgm:pt modelId="{51ADF4D5-79D8-4435-AD84-D83B29378740}" type="pres">
      <dgm:prSet presAssocID="{C540CFD4-08FE-40DE-99D5-569CFA7CC45E}" presName="vert1" presStyleCnt="0"/>
      <dgm:spPr/>
    </dgm:pt>
    <dgm:pt modelId="{9F2A8D98-F8AA-4D72-B266-3C215FA6A4A9}" type="pres">
      <dgm:prSet presAssocID="{94FB1383-10F7-4A5A-B17F-3546AAE0970B}" presName="thickLine" presStyleLbl="alignNode1" presStyleIdx="1" presStyleCnt="4"/>
      <dgm:spPr/>
    </dgm:pt>
    <dgm:pt modelId="{5E9538B7-C9E9-4F2E-BEF7-1C65D36A920B}" type="pres">
      <dgm:prSet presAssocID="{94FB1383-10F7-4A5A-B17F-3546AAE0970B}" presName="horz1" presStyleCnt="0"/>
      <dgm:spPr/>
    </dgm:pt>
    <dgm:pt modelId="{77664A5C-077A-426D-BF2B-45B2A8DD899D}" type="pres">
      <dgm:prSet presAssocID="{94FB1383-10F7-4A5A-B17F-3546AAE0970B}" presName="tx1" presStyleLbl="revTx" presStyleIdx="1" presStyleCnt="4"/>
      <dgm:spPr/>
    </dgm:pt>
    <dgm:pt modelId="{CE376799-B264-4254-99D3-E0E6F3ED91E8}" type="pres">
      <dgm:prSet presAssocID="{94FB1383-10F7-4A5A-B17F-3546AAE0970B}" presName="vert1" presStyleCnt="0"/>
      <dgm:spPr/>
    </dgm:pt>
    <dgm:pt modelId="{17A96E0A-7A86-4CEB-B6C6-40F6D36FA0F3}" type="pres">
      <dgm:prSet presAssocID="{7E478522-D18E-4BA8-9E7E-47507F6D0E47}" presName="thickLine" presStyleLbl="alignNode1" presStyleIdx="2" presStyleCnt="4"/>
      <dgm:spPr/>
    </dgm:pt>
    <dgm:pt modelId="{3A0E7D28-FCE4-4FE4-8017-F5504446A22B}" type="pres">
      <dgm:prSet presAssocID="{7E478522-D18E-4BA8-9E7E-47507F6D0E47}" presName="horz1" presStyleCnt="0"/>
      <dgm:spPr/>
    </dgm:pt>
    <dgm:pt modelId="{A9ACE6AD-3083-45DE-B1B3-882B405B31EB}" type="pres">
      <dgm:prSet presAssocID="{7E478522-D18E-4BA8-9E7E-47507F6D0E47}" presName="tx1" presStyleLbl="revTx" presStyleIdx="2" presStyleCnt="4"/>
      <dgm:spPr/>
    </dgm:pt>
    <dgm:pt modelId="{62593E23-6BDF-4640-A27A-514C64175910}" type="pres">
      <dgm:prSet presAssocID="{7E478522-D18E-4BA8-9E7E-47507F6D0E47}" presName="vert1" presStyleCnt="0"/>
      <dgm:spPr/>
    </dgm:pt>
    <dgm:pt modelId="{8DFDD068-7DB9-4B4B-99CF-B69CF13D37FF}" type="pres">
      <dgm:prSet presAssocID="{9243C0D5-AD94-47CF-8545-534C3DCA586A}" presName="thickLine" presStyleLbl="alignNode1" presStyleIdx="3" presStyleCnt="4"/>
      <dgm:spPr/>
    </dgm:pt>
    <dgm:pt modelId="{E0DF4912-7A72-4B9E-9A72-42CCCBC833DB}" type="pres">
      <dgm:prSet presAssocID="{9243C0D5-AD94-47CF-8545-534C3DCA586A}" presName="horz1" presStyleCnt="0"/>
      <dgm:spPr/>
    </dgm:pt>
    <dgm:pt modelId="{EF6006FA-B3B6-486E-9616-3B85CEC5C724}" type="pres">
      <dgm:prSet presAssocID="{9243C0D5-AD94-47CF-8545-534C3DCA586A}" presName="tx1" presStyleLbl="revTx" presStyleIdx="3" presStyleCnt="4"/>
      <dgm:spPr/>
    </dgm:pt>
    <dgm:pt modelId="{28328C0E-950F-4C67-9A9E-5BF39925B687}" type="pres">
      <dgm:prSet presAssocID="{9243C0D5-AD94-47CF-8545-534C3DCA586A}" presName="vert1" presStyleCnt="0"/>
      <dgm:spPr/>
    </dgm:pt>
  </dgm:ptLst>
  <dgm:cxnLst>
    <dgm:cxn modelId="{A4317120-4A35-404F-B4FD-0DE5BDC1E9C9}" type="presOf" srcId="{BA4A8E84-FA69-46DB-B5CD-FB3CC967ED96}" destId="{E149FD24-D162-4D4F-85AC-3A106EF604B6}" srcOrd="0" destOrd="0" presId="urn:microsoft.com/office/officeart/2008/layout/LinedList"/>
    <dgm:cxn modelId="{87BEBF6D-16E2-4F0A-BF91-81625232B635}" type="presOf" srcId="{7E478522-D18E-4BA8-9E7E-47507F6D0E47}" destId="{A9ACE6AD-3083-45DE-B1B3-882B405B31EB}" srcOrd="0" destOrd="0" presId="urn:microsoft.com/office/officeart/2008/layout/LinedList"/>
    <dgm:cxn modelId="{23297B51-0206-4A86-B55B-322A041DAB8B}" srcId="{BA4A8E84-FA69-46DB-B5CD-FB3CC967ED96}" destId="{7E478522-D18E-4BA8-9E7E-47507F6D0E47}" srcOrd="2" destOrd="0" parTransId="{22290941-A14C-4BBA-A08B-D772D75B2EEA}" sibTransId="{8F2F7097-567A-447E-990E-A728754D15AC}"/>
    <dgm:cxn modelId="{FAA36C82-769D-4B7C-876F-42B2842B205F}" srcId="{BA4A8E84-FA69-46DB-B5CD-FB3CC967ED96}" destId="{94FB1383-10F7-4A5A-B17F-3546AAE0970B}" srcOrd="1" destOrd="0" parTransId="{D89629ED-F118-4FA4-B47F-DDFF1C6AF810}" sibTransId="{1AC8C79D-E7F0-4941-88A6-73EC9F7D0CFF}"/>
    <dgm:cxn modelId="{6AFF3A8E-405E-4BB0-BF30-5553284F723D}" srcId="{BA4A8E84-FA69-46DB-B5CD-FB3CC967ED96}" destId="{9243C0D5-AD94-47CF-8545-534C3DCA586A}" srcOrd="3" destOrd="0" parTransId="{B64F9066-FF4D-4FBB-86CE-1DC8DE4ED98A}" sibTransId="{52EA28A4-C893-4134-8A91-677A1194E12E}"/>
    <dgm:cxn modelId="{1152B191-DC4D-4359-B053-05C3FDE8C7DA}" srcId="{BA4A8E84-FA69-46DB-B5CD-FB3CC967ED96}" destId="{C540CFD4-08FE-40DE-99D5-569CFA7CC45E}" srcOrd="0" destOrd="0" parTransId="{41638714-7574-4444-AE0F-6D0ED5110611}" sibTransId="{45104669-F77E-4891-AB40-9FDCED4930AA}"/>
    <dgm:cxn modelId="{A0C504A7-C761-482A-AA23-774A80C042DD}" type="presOf" srcId="{9243C0D5-AD94-47CF-8545-534C3DCA586A}" destId="{EF6006FA-B3B6-486E-9616-3B85CEC5C724}" srcOrd="0" destOrd="0" presId="urn:microsoft.com/office/officeart/2008/layout/LinedList"/>
    <dgm:cxn modelId="{E7717FE2-7D50-424A-94CD-8D45A60FC0AF}" type="presOf" srcId="{C540CFD4-08FE-40DE-99D5-569CFA7CC45E}" destId="{2C1F4C85-1434-48C8-89A3-B0F2DD09257A}" srcOrd="0" destOrd="0" presId="urn:microsoft.com/office/officeart/2008/layout/LinedList"/>
    <dgm:cxn modelId="{B420FCE9-1306-403A-A6F1-23DCF1B5785F}" type="presOf" srcId="{94FB1383-10F7-4A5A-B17F-3546AAE0970B}" destId="{77664A5C-077A-426D-BF2B-45B2A8DD899D}" srcOrd="0" destOrd="0" presId="urn:microsoft.com/office/officeart/2008/layout/LinedList"/>
    <dgm:cxn modelId="{03815F83-DE3D-4D2D-8CB6-B538928352A0}" type="presParOf" srcId="{E149FD24-D162-4D4F-85AC-3A106EF604B6}" destId="{D03C2B69-9B0C-4569-9FD6-A3BDA91B172A}" srcOrd="0" destOrd="0" presId="urn:microsoft.com/office/officeart/2008/layout/LinedList"/>
    <dgm:cxn modelId="{49D74923-76BD-42FF-92AB-956DB2AF80B1}" type="presParOf" srcId="{E149FD24-D162-4D4F-85AC-3A106EF604B6}" destId="{C1EC767A-0164-45CA-B8CA-55351C89D0BA}" srcOrd="1" destOrd="0" presId="urn:microsoft.com/office/officeart/2008/layout/LinedList"/>
    <dgm:cxn modelId="{224CD020-F6AF-48B3-AC45-16006ECAC635}" type="presParOf" srcId="{C1EC767A-0164-45CA-B8CA-55351C89D0BA}" destId="{2C1F4C85-1434-48C8-89A3-B0F2DD09257A}" srcOrd="0" destOrd="0" presId="urn:microsoft.com/office/officeart/2008/layout/LinedList"/>
    <dgm:cxn modelId="{BA9AA9A0-29AA-4867-93D3-39F3E079ADFE}" type="presParOf" srcId="{C1EC767A-0164-45CA-B8CA-55351C89D0BA}" destId="{51ADF4D5-79D8-4435-AD84-D83B29378740}" srcOrd="1" destOrd="0" presId="urn:microsoft.com/office/officeart/2008/layout/LinedList"/>
    <dgm:cxn modelId="{67ABF5F7-9BB2-465F-880A-A131620C801E}" type="presParOf" srcId="{E149FD24-D162-4D4F-85AC-3A106EF604B6}" destId="{9F2A8D98-F8AA-4D72-B266-3C215FA6A4A9}" srcOrd="2" destOrd="0" presId="urn:microsoft.com/office/officeart/2008/layout/LinedList"/>
    <dgm:cxn modelId="{2C196B14-52E9-4302-AB54-BD0B5CC36071}" type="presParOf" srcId="{E149FD24-D162-4D4F-85AC-3A106EF604B6}" destId="{5E9538B7-C9E9-4F2E-BEF7-1C65D36A920B}" srcOrd="3" destOrd="0" presId="urn:microsoft.com/office/officeart/2008/layout/LinedList"/>
    <dgm:cxn modelId="{FAC0F210-FEF2-49B0-865F-FBB3543D4424}" type="presParOf" srcId="{5E9538B7-C9E9-4F2E-BEF7-1C65D36A920B}" destId="{77664A5C-077A-426D-BF2B-45B2A8DD899D}" srcOrd="0" destOrd="0" presId="urn:microsoft.com/office/officeart/2008/layout/LinedList"/>
    <dgm:cxn modelId="{4DC27F66-BE8D-4E94-AF0A-016255357D79}" type="presParOf" srcId="{5E9538B7-C9E9-4F2E-BEF7-1C65D36A920B}" destId="{CE376799-B264-4254-99D3-E0E6F3ED91E8}" srcOrd="1" destOrd="0" presId="urn:microsoft.com/office/officeart/2008/layout/LinedList"/>
    <dgm:cxn modelId="{47EDFAE6-3A50-47F3-99C0-37D4612B9011}" type="presParOf" srcId="{E149FD24-D162-4D4F-85AC-3A106EF604B6}" destId="{17A96E0A-7A86-4CEB-B6C6-40F6D36FA0F3}" srcOrd="4" destOrd="0" presId="urn:microsoft.com/office/officeart/2008/layout/LinedList"/>
    <dgm:cxn modelId="{DEBB4B6D-F38B-4447-8D37-6A643A788C2F}" type="presParOf" srcId="{E149FD24-D162-4D4F-85AC-3A106EF604B6}" destId="{3A0E7D28-FCE4-4FE4-8017-F5504446A22B}" srcOrd="5" destOrd="0" presId="urn:microsoft.com/office/officeart/2008/layout/LinedList"/>
    <dgm:cxn modelId="{3ACA10B6-EDCF-4A05-8CBB-89DCA9CEAA23}" type="presParOf" srcId="{3A0E7D28-FCE4-4FE4-8017-F5504446A22B}" destId="{A9ACE6AD-3083-45DE-B1B3-882B405B31EB}" srcOrd="0" destOrd="0" presId="urn:microsoft.com/office/officeart/2008/layout/LinedList"/>
    <dgm:cxn modelId="{20515124-6D3F-4B37-A3FF-BC79B4EC33A2}" type="presParOf" srcId="{3A0E7D28-FCE4-4FE4-8017-F5504446A22B}" destId="{62593E23-6BDF-4640-A27A-514C64175910}" srcOrd="1" destOrd="0" presId="urn:microsoft.com/office/officeart/2008/layout/LinedList"/>
    <dgm:cxn modelId="{5099544E-E641-4E13-814F-00CE59EE0948}" type="presParOf" srcId="{E149FD24-D162-4D4F-85AC-3A106EF604B6}" destId="{8DFDD068-7DB9-4B4B-99CF-B69CF13D37FF}" srcOrd="6" destOrd="0" presId="urn:microsoft.com/office/officeart/2008/layout/LinedList"/>
    <dgm:cxn modelId="{B27BCB24-B70F-429F-888A-36E5D1C23AA1}" type="presParOf" srcId="{E149FD24-D162-4D4F-85AC-3A106EF604B6}" destId="{E0DF4912-7A72-4B9E-9A72-42CCCBC833DB}" srcOrd="7" destOrd="0" presId="urn:microsoft.com/office/officeart/2008/layout/LinedList"/>
    <dgm:cxn modelId="{2F118BED-C5B8-446A-AD97-711F9D7C7FDD}" type="presParOf" srcId="{E0DF4912-7A72-4B9E-9A72-42CCCBC833DB}" destId="{EF6006FA-B3B6-486E-9616-3B85CEC5C724}" srcOrd="0" destOrd="0" presId="urn:microsoft.com/office/officeart/2008/layout/LinedList"/>
    <dgm:cxn modelId="{A1E4641A-5CE1-4BA2-AAB8-18847BDE9F02}" type="presParOf" srcId="{E0DF4912-7A72-4B9E-9A72-42CCCBC833DB}" destId="{28328C0E-950F-4C67-9A9E-5BF39925B68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D275AB-923A-417D-BB45-3A3DEAE0B066}" type="doc">
      <dgm:prSet loTypeId="urn:microsoft.com/office/officeart/2005/8/layout/hierarchy1" loCatId="hierarchy" qsTypeId="urn:microsoft.com/office/officeart/2005/8/quickstyle/simple5" qsCatId="simple" csTypeId="urn:microsoft.com/office/officeart/2005/8/colors/accent0_3" csCatId="mainScheme" phldr="1"/>
      <dgm:spPr/>
      <dgm:t>
        <a:bodyPr/>
        <a:lstStyle/>
        <a:p>
          <a:endParaRPr lang="en-US"/>
        </a:p>
      </dgm:t>
    </dgm:pt>
    <dgm:pt modelId="{0BDFD201-3A1E-44A6-8930-3427B3FDBCB0}">
      <dgm:prSet/>
      <dgm:spPr/>
      <dgm:t>
        <a:bodyPr/>
        <a:lstStyle/>
        <a:p>
          <a:r>
            <a:rPr lang="en-US" dirty="0"/>
            <a:t>Seeking </a:t>
          </a:r>
          <a:r>
            <a:rPr lang="en-US" b="1" dirty="0"/>
            <a:t>£500,000</a:t>
          </a:r>
          <a:r>
            <a:rPr lang="en-US" dirty="0"/>
            <a:t> for scaling, UK entry, and marketing.</a:t>
          </a:r>
        </a:p>
      </dgm:t>
    </dgm:pt>
    <dgm:pt modelId="{B8E65D46-0FCA-438D-8385-E8E0FE463266}" type="parTrans" cxnId="{3A6A5A14-9496-44D8-98F7-AC091B0F3DDC}">
      <dgm:prSet/>
      <dgm:spPr/>
      <dgm:t>
        <a:bodyPr/>
        <a:lstStyle/>
        <a:p>
          <a:endParaRPr lang="en-US"/>
        </a:p>
      </dgm:t>
    </dgm:pt>
    <dgm:pt modelId="{DD41B037-352F-4619-B4DB-ACF555F2C4E3}" type="sibTrans" cxnId="{3A6A5A14-9496-44D8-98F7-AC091B0F3DDC}">
      <dgm:prSet/>
      <dgm:spPr/>
      <dgm:t>
        <a:bodyPr/>
        <a:lstStyle/>
        <a:p>
          <a:endParaRPr lang="en-US"/>
        </a:p>
      </dgm:t>
    </dgm:pt>
    <dgm:pt modelId="{4CB25181-2BED-40A9-B9C2-B8720D21EEF5}">
      <dgm:prSet/>
      <dgm:spPr/>
      <dgm:t>
        <a:bodyPr/>
        <a:lstStyle/>
        <a:p>
          <a:r>
            <a:rPr lang="en-US" dirty="0"/>
            <a:t>Strong demand, low competition, and supportive UK environment.</a:t>
          </a:r>
        </a:p>
      </dgm:t>
    </dgm:pt>
    <dgm:pt modelId="{B233519B-A9B2-4C90-91CB-3A1C5C153226}" type="parTrans" cxnId="{575EE01C-5F2A-4A6E-871C-5E18D8CEB2EA}">
      <dgm:prSet/>
      <dgm:spPr/>
      <dgm:t>
        <a:bodyPr/>
        <a:lstStyle/>
        <a:p>
          <a:endParaRPr lang="en-US"/>
        </a:p>
      </dgm:t>
    </dgm:pt>
    <dgm:pt modelId="{E230DAF2-C7AA-4688-95F6-65279D5B471E}" type="sibTrans" cxnId="{575EE01C-5F2A-4A6E-871C-5E18D8CEB2EA}">
      <dgm:prSet/>
      <dgm:spPr/>
      <dgm:t>
        <a:bodyPr/>
        <a:lstStyle/>
        <a:p>
          <a:endParaRPr lang="en-US"/>
        </a:p>
      </dgm:t>
    </dgm:pt>
    <dgm:pt modelId="{062B81C2-0B79-4AC5-8B4F-2B08A1E066C6}">
      <dgm:prSet/>
      <dgm:spPr/>
      <dgm:t>
        <a:bodyPr/>
        <a:lstStyle/>
        <a:p>
          <a:r>
            <a:rPr lang="en-US"/>
            <a:t>High-growth clean-tech opportunity for investors.</a:t>
          </a:r>
        </a:p>
      </dgm:t>
    </dgm:pt>
    <dgm:pt modelId="{CC380A2A-5D3B-4476-B815-D392A572EC6A}" type="parTrans" cxnId="{819AE79A-9FB6-496C-80BC-3AE424D02A6F}">
      <dgm:prSet/>
      <dgm:spPr/>
      <dgm:t>
        <a:bodyPr/>
        <a:lstStyle/>
        <a:p>
          <a:endParaRPr lang="en-US"/>
        </a:p>
      </dgm:t>
    </dgm:pt>
    <dgm:pt modelId="{918C082A-D36A-48CA-8FE9-60C3495F7BE8}" type="sibTrans" cxnId="{819AE79A-9FB6-496C-80BC-3AE424D02A6F}">
      <dgm:prSet/>
      <dgm:spPr/>
      <dgm:t>
        <a:bodyPr/>
        <a:lstStyle/>
        <a:p>
          <a:endParaRPr lang="en-US"/>
        </a:p>
      </dgm:t>
    </dgm:pt>
    <dgm:pt modelId="{859556B6-6377-4ADA-9888-55AA2F67679C}" type="pres">
      <dgm:prSet presAssocID="{CAD275AB-923A-417D-BB45-3A3DEAE0B066}" presName="hierChild1" presStyleCnt="0">
        <dgm:presLayoutVars>
          <dgm:chPref val="1"/>
          <dgm:dir/>
          <dgm:animOne val="branch"/>
          <dgm:animLvl val="lvl"/>
          <dgm:resizeHandles/>
        </dgm:presLayoutVars>
      </dgm:prSet>
      <dgm:spPr/>
    </dgm:pt>
    <dgm:pt modelId="{0A88F426-B5A6-40DF-B16C-75C7DABB9E8A}" type="pres">
      <dgm:prSet presAssocID="{0BDFD201-3A1E-44A6-8930-3427B3FDBCB0}" presName="hierRoot1" presStyleCnt="0"/>
      <dgm:spPr/>
    </dgm:pt>
    <dgm:pt modelId="{884EE23E-1332-44DC-B716-9403098E03A1}" type="pres">
      <dgm:prSet presAssocID="{0BDFD201-3A1E-44A6-8930-3427B3FDBCB0}" presName="composite" presStyleCnt="0"/>
      <dgm:spPr/>
    </dgm:pt>
    <dgm:pt modelId="{778282A4-99E7-4F64-8117-DE4793879258}" type="pres">
      <dgm:prSet presAssocID="{0BDFD201-3A1E-44A6-8930-3427B3FDBCB0}" presName="background" presStyleLbl="node0" presStyleIdx="0" presStyleCnt="3"/>
      <dgm:spPr/>
    </dgm:pt>
    <dgm:pt modelId="{C60F6EB4-7003-461B-B304-D9AE6BE8B996}" type="pres">
      <dgm:prSet presAssocID="{0BDFD201-3A1E-44A6-8930-3427B3FDBCB0}" presName="text" presStyleLbl="fgAcc0" presStyleIdx="0" presStyleCnt="3">
        <dgm:presLayoutVars>
          <dgm:chPref val="3"/>
        </dgm:presLayoutVars>
      </dgm:prSet>
      <dgm:spPr/>
    </dgm:pt>
    <dgm:pt modelId="{20C246B2-4E30-490B-AB82-72E66D7FF7E1}" type="pres">
      <dgm:prSet presAssocID="{0BDFD201-3A1E-44A6-8930-3427B3FDBCB0}" presName="hierChild2" presStyleCnt="0"/>
      <dgm:spPr/>
    </dgm:pt>
    <dgm:pt modelId="{59F875D1-8F05-4C69-A3AF-C69193EED945}" type="pres">
      <dgm:prSet presAssocID="{4CB25181-2BED-40A9-B9C2-B8720D21EEF5}" presName="hierRoot1" presStyleCnt="0"/>
      <dgm:spPr/>
    </dgm:pt>
    <dgm:pt modelId="{29C81A6B-1E82-47EF-B4CE-AEA2BD0F6EA1}" type="pres">
      <dgm:prSet presAssocID="{4CB25181-2BED-40A9-B9C2-B8720D21EEF5}" presName="composite" presStyleCnt="0"/>
      <dgm:spPr/>
    </dgm:pt>
    <dgm:pt modelId="{7E989170-55BD-43A1-851C-A8A01E294D9F}" type="pres">
      <dgm:prSet presAssocID="{4CB25181-2BED-40A9-B9C2-B8720D21EEF5}" presName="background" presStyleLbl="node0" presStyleIdx="1" presStyleCnt="3"/>
      <dgm:spPr/>
    </dgm:pt>
    <dgm:pt modelId="{47F12C40-DAC9-4BC9-AD64-18431E72147C}" type="pres">
      <dgm:prSet presAssocID="{4CB25181-2BED-40A9-B9C2-B8720D21EEF5}" presName="text" presStyleLbl="fgAcc0" presStyleIdx="1" presStyleCnt="3">
        <dgm:presLayoutVars>
          <dgm:chPref val="3"/>
        </dgm:presLayoutVars>
      </dgm:prSet>
      <dgm:spPr/>
    </dgm:pt>
    <dgm:pt modelId="{2B88F593-7A9F-4AA0-89AB-FF6CE71F8F42}" type="pres">
      <dgm:prSet presAssocID="{4CB25181-2BED-40A9-B9C2-B8720D21EEF5}" presName="hierChild2" presStyleCnt="0"/>
      <dgm:spPr/>
    </dgm:pt>
    <dgm:pt modelId="{830449FC-323B-4564-B566-3930E7E8B996}" type="pres">
      <dgm:prSet presAssocID="{062B81C2-0B79-4AC5-8B4F-2B08A1E066C6}" presName="hierRoot1" presStyleCnt="0"/>
      <dgm:spPr/>
    </dgm:pt>
    <dgm:pt modelId="{24079A28-EC38-4D30-898D-93ACB316CDE7}" type="pres">
      <dgm:prSet presAssocID="{062B81C2-0B79-4AC5-8B4F-2B08A1E066C6}" presName="composite" presStyleCnt="0"/>
      <dgm:spPr/>
    </dgm:pt>
    <dgm:pt modelId="{8973045B-0797-495E-80A4-D1D93D45E345}" type="pres">
      <dgm:prSet presAssocID="{062B81C2-0B79-4AC5-8B4F-2B08A1E066C6}" presName="background" presStyleLbl="node0" presStyleIdx="2" presStyleCnt="3"/>
      <dgm:spPr/>
    </dgm:pt>
    <dgm:pt modelId="{3639BDB1-14E1-4D5F-A4B5-016E7553F714}" type="pres">
      <dgm:prSet presAssocID="{062B81C2-0B79-4AC5-8B4F-2B08A1E066C6}" presName="text" presStyleLbl="fgAcc0" presStyleIdx="2" presStyleCnt="3">
        <dgm:presLayoutVars>
          <dgm:chPref val="3"/>
        </dgm:presLayoutVars>
      </dgm:prSet>
      <dgm:spPr/>
    </dgm:pt>
    <dgm:pt modelId="{4BC28B89-EFD9-4A62-AA4F-D8706709EE79}" type="pres">
      <dgm:prSet presAssocID="{062B81C2-0B79-4AC5-8B4F-2B08A1E066C6}" presName="hierChild2" presStyleCnt="0"/>
      <dgm:spPr/>
    </dgm:pt>
  </dgm:ptLst>
  <dgm:cxnLst>
    <dgm:cxn modelId="{3A6A5A14-9496-44D8-98F7-AC091B0F3DDC}" srcId="{CAD275AB-923A-417D-BB45-3A3DEAE0B066}" destId="{0BDFD201-3A1E-44A6-8930-3427B3FDBCB0}" srcOrd="0" destOrd="0" parTransId="{B8E65D46-0FCA-438D-8385-E8E0FE463266}" sibTransId="{DD41B037-352F-4619-B4DB-ACF555F2C4E3}"/>
    <dgm:cxn modelId="{575EE01C-5F2A-4A6E-871C-5E18D8CEB2EA}" srcId="{CAD275AB-923A-417D-BB45-3A3DEAE0B066}" destId="{4CB25181-2BED-40A9-B9C2-B8720D21EEF5}" srcOrd="1" destOrd="0" parTransId="{B233519B-A9B2-4C90-91CB-3A1C5C153226}" sibTransId="{E230DAF2-C7AA-4688-95F6-65279D5B471E}"/>
    <dgm:cxn modelId="{692BDB25-2014-4FA7-9B88-ED242C84B427}" type="presOf" srcId="{4CB25181-2BED-40A9-B9C2-B8720D21EEF5}" destId="{47F12C40-DAC9-4BC9-AD64-18431E72147C}" srcOrd="0" destOrd="0" presId="urn:microsoft.com/office/officeart/2005/8/layout/hierarchy1"/>
    <dgm:cxn modelId="{CC3E928F-35F7-462A-9780-A80BF66F0181}" type="presOf" srcId="{CAD275AB-923A-417D-BB45-3A3DEAE0B066}" destId="{859556B6-6377-4ADA-9888-55AA2F67679C}" srcOrd="0" destOrd="0" presId="urn:microsoft.com/office/officeart/2005/8/layout/hierarchy1"/>
    <dgm:cxn modelId="{819AE79A-9FB6-496C-80BC-3AE424D02A6F}" srcId="{CAD275AB-923A-417D-BB45-3A3DEAE0B066}" destId="{062B81C2-0B79-4AC5-8B4F-2B08A1E066C6}" srcOrd="2" destOrd="0" parTransId="{CC380A2A-5D3B-4476-B815-D392A572EC6A}" sibTransId="{918C082A-D36A-48CA-8FE9-60C3495F7BE8}"/>
    <dgm:cxn modelId="{20FA71C6-80DD-4A2A-8ED8-8F1979A5FE37}" type="presOf" srcId="{0BDFD201-3A1E-44A6-8930-3427B3FDBCB0}" destId="{C60F6EB4-7003-461B-B304-D9AE6BE8B996}" srcOrd="0" destOrd="0" presId="urn:microsoft.com/office/officeart/2005/8/layout/hierarchy1"/>
    <dgm:cxn modelId="{F4F7D6E1-DA9C-4B9F-BCFF-4E9519AF5347}" type="presOf" srcId="{062B81C2-0B79-4AC5-8B4F-2B08A1E066C6}" destId="{3639BDB1-14E1-4D5F-A4B5-016E7553F714}" srcOrd="0" destOrd="0" presId="urn:microsoft.com/office/officeart/2005/8/layout/hierarchy1"/>
    <dgm:cxn modelId="{03375CFE-7516-4F58-9A33-B8DA7458042A}" type="presParOf" srcId="{859556B6-6377-4ADA-9888-55AA2F67679C}" destId="{0A88F426-B5A6-40DF-B16C-75C7DABB9E8A}" srcOrd="0" destOrd="0" presId="urn:microsoft.com/office/officeart/2005/8/layout/hierarchy1"/>
    <dgm:cxn modelId="{641BC569-1023-4C67-AA16-327304295989}" type="presParOf" srcId="{0A88F426-B5A6-40DF-B16C-75C7DABB9E8A}" destId="{884EE23E-1332-44DC-B716-9403098E03A1}" srcOrd="0" destOrd="0" presId="urn:microsoft.com/office/officeart/2005/8/layout/hierarchy1"/>
    <dgm:cxn modelId="{F6DD678D-9803-4F60-BEC7-27DFE1E93737}" type="presParOf" srcId="{884EE23E-1332-44DC-B716-9403098E03A1}" destId="{778282A4-99E7-4F64-8117-DE4793879258}" srcOrd="0" destOrd="0" presId="urn:microsoft.com/office/officeart/2005/8/layout/hierarchy1"/>
    <dgm:cxn modelId="{895A961A-7E9C-434F-9CA1-22382434B136}" type="presParOf" srcId="{884EE23E-1332-44DC-B716-9403098E03A1}" destId="{C60F6EB4-7003-461B-B304-D9AE6BE8B996}" srcOrd="1" destOrd="0" presId="urn:microsoft.com/office/officeart/2005/8/layout/hierarchy1"/>
    <dgm:cxn modelId="{00D9EDDD-BA5C-43D4-94DD-C244896C8DCF}" type="presParOf" srcId="{0A88F426-B5A6-40DF-B16C-75C7DABB9E8A}" destId="{20C246B2-4E30-490B-AB82-72E66D7FF7E1}" srcOrd="1" destOrd="0" presId="urn:microsoft.com/office/officeart/2005/8/layout/hierarchy1"/>
    <dgm:cxn modelId="{66905948-303A-4611-B6E8-9B1A1E713E9E}" type="presParOf" srcId="{859556B6-6377-4ADA-9888-55AA2F67679C}" destId="{59F875D1-8F05-4C69-A3AF-C69193EED945}" srcOrd="1" destOrd="0" presId="urn:microsoft.com/office/officeart/2005/8/layout/hierarchy1"/>
    <dgm:cxn modelId="{C6F89425-0502-4DE8-BB8B-3661631C45F8}" type="presParOf" srcId="{59F875D1-8F05-4C69-A3AF-C69193EED945}" destId="{29C81A6B-1E82-47EF-B4CE-AEA2BD0F6EA1}" srcOrd="0" destOrd="0" presId="urn:microsoft.com/office/officeart/2005/8/layout/hierarchy1"/>
    <dgm:cxn modelId="{D6837262-1050-4A7F-9AA0-E44130D00611}" type="presParOf" srcId="{29C81A6B-1E82-47EF-B4CE-AEA2BD0F6EA1}" destId="{7E989170-55BD-43A1-851C-A8A01E294D9F}" srcOrd="0" destOrd="0" presId="urn:microsoft.com/office/officeart/2005/8/layout/hierarchy1"/>
    <dgm:cxn modelId="{14B2794E-6612-403D-B7B8-CB142266B761}" type="presParOf" srcId="{29C81A6B-1E82-47EF-B4CE-AEA2BD0F6EA1}" destId="{47F12C40-DAC9-4BC9-AD64-18431E72147C}" srcOrd="1" destOrd="0" presId="urn:microsoft.com/office/officeart/2005/8/layout/hierarchy1"/>
    <dgm:cxn modelId="{2155ADD8-C414-4552-9066-2D2D6A63F472}" type="presParOf" srcId="{59F875D1-8F05-4C69-A3AF-C69193EED945}" destId="{2B88F593-7A9F-4AA0-89AB-FF6CE71F8F42}" srcOrd="1" destOrd="0" presId="urn:microsoft.com/office/officeart/2005/8/layout/hierarchy1"/>
    <dgm:cxn modelId="{FA79BC4A-BF8D-442F-96D2-E46154CDBA34}" type="presParOf" srcId="{859556B6-6377-4ADA-9888-55AA2F67679C}" destId="{830449FC-323B-4564-B566-3930E7E8B996}" srcOrd="2" destOrd="0" presId="urn:microsoft.com/office/officeart/2005/8/layout/hierarchy1"/>
    <dgm:cxn modelId="{12895DAC-8C49-4955-89DD-0CF6FA8D88AD}" type="presParOf" srcId="{830449FC-323B-4564-B566-3930E7E8B996}" destId="{24079A28-EC38-4D30-898D-93ACB316CDE7}" srcOrd="0" destOrd="0" presId="urn:microsoft.com/office/officeart/2005/8/layout/hierarchy1"/>
    <dgm:cxn modelId="{A0D77FC9-6DED-436E-81B9-7FE546696B46}" type="presParOf" srcId="{24079A28-EC38-4D30-898D-93ACB316CDE7}" destId="{8973045B-0797-495E-80A4-D1D93D45E345}" srcOrd="0" destOrd="0" presId="urn:microsoft.com/office/officeart/2005/8/layout/hierarchy1"/>
    <dgm:cxn modelId="{CE839271-19C7-4D83-B81D-0D4154162FD2}" type="presParOf" srcId="{24079A28-EC38-4D30-898D-93ACB316CDE7}" destId="{3639BDB1-14E1-4D5F-A4B5-016E7553F714}" srcOrd="1" destOrd="0" presId="urn:microsoft.com/office/officeart/2005/8/layout/hierarchy1"/>
    <dgm:cxn modelId="{C4DBAB31-6046-4F4A-A230-74E72EA2D71F}" type="presParOf" srcId="{830449FC-323B-4564-B566-3930E7E8B996}" destId="{4BC28B89-EFD9-4A62-AA4F-D8706709EE79}"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66CED-0454-4145-8F4F-6CC643201A15}">
      <dsp:nvSpPr>
        <dsp:cNvPr id="0" name=""/>
        <dsp:cNvSpPr/>
      </dsp:nvSpPr>
      <dsp:spPr>
        <a:xfrm>
          <a:off x="0" y="502"/>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6AF0F3-8161-4113-A728-7190713A99D9}">
      <dsp:nvSpPr>
        <dsp:cNvPr id="0" name=""/>
        <dsp:cNvSpPr/>
      </dsp:nvSpPr>
      <dsp:spPr>
        <a:xfrm>
          <a:off x="209180" y="156091"/>
          <a:ext cx="380328" cy="3803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631AD2-C365-4214-9FD6-996F25B34C40}">
      <dsp:nvSpPr>
        <dsp:cNvPr id="0" name=""/>
        <dsp:cNvSpPr/>
      </dsp:nvSpPr>
      <dsp:spPr>
        <a:xfrm>
          <a:off x="798689" y="502"/>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Strong government support for clean-tech (Net Zero 2050).</a:t>
          </a:r>
          <a:endParaRPr lang="en-US" sz="1600" kern="1200"/>
        </a:p>
      </dsp:txBody>
      <dsp:txXfrm>
        <a:off x="798689" y="502"/>
        <a:ext cx="5502911" cy="691506"/>
      </dsp:txXfrm>
    </dsp:sp>
    <dsp:sp modelId="{1B1D7D91-FA03-436D-8CB8-649FA8CE0746}">
      <dsp:nvSpPr>
        <dsp:cNvPr id="0" name=""/>
        <dsp:cNvSpPr/>
      </dsp:nvSpPr>
      <dsp:spPr>
        <a:xfrm>
          <a:off x="0" y="864885"/>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363891-4CA1-4B78-AFAC-2D40CF091E4A}">
      <dsp:nvSpPr>
        <dsp:cNvPr id="0" name=""/>
        <dsp:cNvSpPr/>
      </dsp:nvSpPr>
      <dsp:spPr>
        <a:xfrm>
          <a:off x="209180" y="1020474"/>
          <a:ext cx="380328" cy="3803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FA1B63-5478-4451-AC52-B4047ECAB6EB}">
      <dsp:nvSpPr>
        <dsp:cNvPr id="0" name=""/>
        <dsp:cNvSpPr/>
      </dsp:nvSpPr>
      <dsp:spPr>
        <a:xfrm>
          <a:off x="798689" y="864885"/>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High GDP per capita and strong tech retail sector.</a:t>
          </a:r>
          <a:endParaRPr lang="en-US" sz="1600" kern="1200"/>
        </a:p>
      </dsp:txBody>
      <dsp:txXfrm>
        <a:off x="798689" y="864885"/>
        <a:ext cx="5502911" cy="691506"/>
      </dsp:txXfrm>
    </dsp:sp>
    <dsp:sp modelId="{02A4CB6B-9F2C-42B2-AABA-7DEDD993FB47}">
      <dsp:nvSpPr>
        <dsp:cNvPr id="0" name=""/>
        <dsp:cNvSpPr/>
      </dsp:nvSpPr>
      <dsp:spPr>
        <a:xfrm>
          <a:off x="0" y="1729268"/>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C70381-AC87-42C9-9EDE-96234553910C}">
      <dsp:nvSpPr>
        <dsp:cNvPr id="0" name=""/>
        <dsp:cNvSpPr/>
      </dsp:nvSpPr>
      <dsp:spPr>
        <a:xfrm>
          <a:off x="209180" y="1884857"/>
          <a:ext cx="380328" cy="3803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A6286B-C5E6-4218-AC52-F966E67B9A76}">
      <dsp:nvSpPr>
        <dsp:cNvPr id="0" name=""/>
        <dsp:cNvSpPr/>
      </dsp:nvSpPr>
      <dsp:spPr>
        <a:xfrm>
          <a:off x="798689" y="1729268"/>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97%+ smartphone usage and heavy tourist mobility.</a:t>
          </a:r>
          <a:endParaRPr lang="en-US" sz="1600" kern="1200"/>
        </a:p>
      </dsp:txBody>
      <dsp:txXfrm>
        <a:off x="798689" y="1729268"/>
        <a:ext cx="5502911" cy="691506"/>
      </dsp:txXfrm>
    </dsp:sp>
    <dsp:sp modelId="{B98F1DAA-ABA8-4FCF-8EDE-CA4AAD7EF461}">
      <dsp:nvSpPr>
        <dsp:cNvPr id="0" name=""/>
        <dsp:cNvSpPr/>
      </dsp:nvSpPr>
      <dsp:spPr>
        <a:xfrm>
          <a:off x="0" y="2593651"/>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41180E-FDC5-4DE7-8320-B176C1DFDBD8}">
      <dsp:nvSpPr>
        <dsp:cNvPr id="0" name=""/>
        <dsp:cNvSpPr/>
      </dsp:nvSpPr>
      <dsp:spPr>
        <a:xfrm>
          <a:off x="209180" y="2749240"/>
          <a:ext cx="380328" cy="3803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6EA718-F96E-4122-BD30-22CE1B22ED92}">
      <dsp:nvSpPr>
        <dsp:cNvPr id="0" name=""/>
        <dsp:cNvSpPr/>
      </dsp:nvSpPr>
      <dsp:spPr>
        <a:xfrm>
          <a:off x="798689" y="2593651"/>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Strong clean-tech and smart city innovation demand.</a:t>
          </a:r>
          <a:endParaRPr lang="en-US" sz="1600" kern="1200"/>
        </a:p>
      </dsp:txBody>
      <dsp:txXfrm>
        <a:off x="798689" y="2593651"/>
        <a:ext cx="5502911" cy="691506"/>
      </dsp:txXfrm>
    </dsp:sp>
    <dsp:sp modelId="{457A4B99-D28F-4F24-B0A5-97277BE540F0}">
      <dsp:nvSpPr>
        <dsp:cNvPr id="0" name=""/>
        <dsp:cNvSpPr/>
      </dsp:nvSpPr>
      <dsp:spPr>
        <a:xfrm>
          <a:off x="0" y="3458034"/>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98C87-3B0C-4A72-BCCA-08B48D296F2B}">
      <dsp:nvSpPr>
        <dsp:cNvPr id="0" name=""/>
        <dsp:cNvSpPr/>
      </dsp:nvSpPr>
      <dsp:spPr>
        <a:xfrm>
          <a:off x="209180" y="3613623"/>
          <a:ext cx="380328" cy="3803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9C4FB7-2449-42AC-99E3-4BDD7E7B8B15}">
      <dsp:nvSpPr>
        <dsp:cNvPr id="0" name=""/>
        <dsp:cNvSpPr/>
      </dsp:nvSpPr>
      <dsp:spPr>
        <a:xfrm>
          <a:off x="798689" y="3458034"/>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Favourable import/green-energy policies.</a:t>
          </a:r>
          <a:endParaRPr lang="en-US" sz="1600" kern="1200"/>
        </a:p>
      </dsp:txBody>
      <dsp:txXfrm>
        <a:off x="798689" y="3458034"/>
        <a:ext cx="5502911" cy="691506"/>
      </dsp:txXfrm>
    </dsp:sp>
    <dsp:sp modelId="{AA559544-8856-4766-A2C8-E4511C89E34E}">
      <dsp:nvSpPr>
        <dsp:cNvPr id="0" name=""/>
        <dsp:cNvSpPr/>
      </dsp:nvSpPr>
      <dsp:spPr>
        <a:xfrm>
          <a:off x="0" y="4322417"/>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5F1D8F-40EC-4606-82F9-A394184DC94F}">
      <dsp:nvSpPr>
        <dsp:cNvPr id="0" name=""/>
        <dsp:cNvSpPr/>
      </dsp:nvSpPr>
      <dsp:spPr>
        <a:xfrm>
          <a:off x="209180" y="4478006"/>
          <a:ext cx="380328" cy="3803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9C39D5-7438-4C88-AD54-C1DF270975B2}">
      <dsp:nvSpPr>
        <dsp:cNvPr id="0" name=""/>
        <dsp:cNvSpPr/>
      </dsp:nvSpPr>
      <dsp:spPr>
        <a:xfrm>
          <a:off x="798689" y="4322417"/>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Intense sunlight ideal for solar products.</a:t>
          </a:r>
          <a:endParaRPr lang="en-US" sz="1600" kern="1200"/>
        </a:p>
      </dsp:txBody>
      <dsp:txXfrm>
        <a:off x="798689" y="4322417"/>
        <a:ext cx="5502911" cy="691506"/>
      </dsp:txXfrm>
    </dsp:sp>
    <dsp:sp modelId="{20942563-9E20-4633-A955-AAB29DF46AB9}">
      <dsp:nvSpPr>
        <dsp:cNvPr id="0" name=""/>
        <dsp:cNvSpPr/>
      </dsp:nvSpPr>
      <dsp:spPr>
        <a:xfrm>
          <a:off x="0" y="5186800"/>
          <a:ext cx="63016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76167-9AEC-4C9F-9501-22080AE34EA0}">
      <dsp:nvSpPr>
        <dsp:cNvPr id="0" name=""/>
        <dsp:cNvSpPr/>
      </dsp:nvSpPr>
      <dsp:spPr>
        <a:xfrm>
          <a:off x="209180" y="5342389"/>
          <a:ext cx="380328" cy="38032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2F41BD-39EE-4E08-9388-8219A8DD597C}">
      <dsp:nvSpPr>
        <dsp:cNvPr id="0" name=""/>
        <dsp:cNvSpPr/>
      </dsp:nvSpPr>
      <dsp:spPr>
        <a:xfrm>
          <a:off x="798689" y="5186800"/>
          <a:ext cx="55029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GB" sz="1600" kern="1200"/>
            <a:t>Overall high strategic fit for entry.</a:t>
          </a:r>
          <a:endParaRPr lang="en-US" sz="1600" kern="1200"/>
        </a:p>
      </dsp:txBody>
      <dsp:txXfrm>
        <a:off x="798689" y="5186800"/>
        <a:ext cx="5502911" cy="6915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578993-BB91-471E-B6A4-C172ED608C22}">
      <dsp:nvSpPr>
        <dsp:cNvPr id="0" name=""/>
        <dsp:cNvSpPr/>
      </dsp:nvSpPr>
      <dsp:spPr>
        <a:xfrm>
          <a:off x="672633" y="0"/>
          <a:ext cx="5243992" cy="5243992"/>
        </a:xfrm>
        <a:prstGeom prst="diamond">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7F6021-DFCE-41C0-81B9-0DFE2C28913E}">
      <dsp:nvSpPr>
        <dsp:cNvPr id="0" name=""/>
        <dsp:cNvSpPr/>
      </dsp:nvSpPr>
      <dsp:spPr>
        <a:xfrm>
          <a:off x="1170812" y="498179"/>
          <a:ext cx="2045157" cy="204515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Key segments: professionals, tourists, outdoor users.</a:t>
          </a:r>
        </a:p>
      </dsp:txBody>
      <dsp:txXfrm>
        <a:off x="1270648" y="598015"/>
        <a:ext cx="1845485" cy="1845485"/>
      </dsp:txXfrm>
    </dsp:sp>
    <dsp:sp modelId="{E7324360-3D35-47BB-8919-6C67E3CD4418}">
      <dsp:nvSpPr>
        <dsp:cNvPr id="0" name=""/>
        <dsp:cNvSpPr/>
      </dsp:nvSpPr>
      <dsp:spPr>
        <a:xfrm>
          <a:off x="3373289" y="498179"/>
          <a:ext cx="2045157" cy="204515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Customers want fast, convenient, sustainable charging.</a:t>
          </a:r>
        </a:p>
      </dsp:txBody>
      <dsp:txXfrm>
        <a:off x="3473125" y="598015"/>
        <a:ext cx="1845485" cy="1845485"/>
      </dsp:txXfrm>
    </dsp:sp>
    <dsp:sp modelId="{8FB86194-3319-44A3-861B-7DC5F13DD1BA}">
      <dsp:nvSpPr>
        <dsp:cNvPr id="0" name=""/>
        <dsp:cNvSpPr/>
      </dsp:nvSpPr>
      <dsp:spPr>
        <a:xfrm>
          <a:off x="1170812" y="2700656"/>
          <a:ext cx="2045157" cy="204515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UK buyers willing to pay for premium eco-tech.</a:t>
          </a:r>
        </a:p>
      </dsp:txBody>
      <dsp:txXfrm>
        <a:off x="1270648" y="2800492"/>
        <a:ext cx="1845485" cy="1845485"/>
      </dsp:txXfrm>
    </dsp:sp>
    <dsp:sp modelId="{F3B999B5-3C84-466F-ACE1-5682050AFC58}">
      <dsp:nvSpPr>
        <dsp:cNvPr id="0" name=""/>
        <dsp:cNvSpPr/>
      </dsp:nvSpPr>
      <dsp:spPr>
        <a:xfrm>
          <a:off x="3373289" y="2700656"/>
          <a:ext cx="2045157" cy="204515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Cultural preference for trusted, high-quality brands.</a:t>
          </a:r>
        </a:p>
      </dsp:txBody>
      <dsp:txXfrm>
        <a:off x="3473125" y="2800492"/>
        <a:ext cx="1845485" cy="18454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AC40B-87BE-40E1-9B6E-71BB814CDCB6}">
      <dsp:nvSpPr>
        <dsp:cNvPr id="0" name=""/>
        <dsp:cNvSpPr/>
      </dsp:nvSpPr>
      <dsp:spPr>
        <a:xfrm>
          <a:off x="0" y="72756"/>
          <a:ext cx="6364224" cy="12729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Mix of Uppsala (gradual learning) + Born Global (early expansion).</a:t>
          </a:r>
        </a:p>
      </dsp:txBody>
      <dsp:txXfrm>
        <a:off x="62141" y="134897"/>
        <a:ext cx="6239942" cy="1148678"/>
      </dsp:txXfrm>
    </dsp:sp>
    <dsp:sp modelId="{1DF3C0C1-430A-4B46-BE5B-A702DE0372F5}">
      <dsp:nvSpPr>
        <dsp:cNvPr id="0" name=""/>
        <dsp:cNvSpPr/>
      </dsp:nvSpPr>
      <dsp:spPr>
        <a:xfrm>
          <a:off x="0" y="1437876"/>
          <a:ext cx="6364224" cy="127296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High-tech nature enables rapid internationalisation.</a:t>
          </a:r>
        </a:p>
      </dsp:txBody>
      <dsp:txXfrm>
        <a:off x="62141" y="1500017"/>
        <a:ext cx="6239942" cy="1148678"/>
      </dsp:txXfrm>
    </dsp:sp>
    <dsp:sp modelId="{012230FF-CE40-401E-B788-5171ED6B8C93}">
      <dsp:nvSpPr>
        <dsp:cNvPr id="0" name=""/>
        <dsp:cNvSpPr/>
      </dsp:nvSpPr>
      <dsp:spPr>
        <a:xfrm>
          <a:off x="0" y="2802996"/>
          <a:ext cx="6364224" cy="127296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Indirect exporting with UK partner reduces risk and boosts access.</a:t>
          </a:r>
        </a:p>
      </dsp:txBody>
      <dsp:txXfrm>
        <a:off x="62141" y="2865137"/>
        <a:ext cx="6239942" cy="1148678"/>
      </dsp:txXfrm>
    </dsp:sp>
    <dsp:sp modelId="{4D80BAEF-B64F-4B10-A0BD-B69040B35269}">
      <dsp:nvSpPr>
        <dsp:cNvPr id="0" name=""/>
        <dsp:cNvSpPr/>
      </dsp:nvSpPr>
      <dsp:spPr>
        <a:xfrm>
          <a:off x="0" y="4168116"/>
          <a:ext cx="6364224" cy="12729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Supports retail visibility and fast scaling.</a:t>
          </a:r>
        </a:p>
      </dsp:txBody>
      <dsp:txXfrm>
        <a:off x="62141" y="4230257"/>
        <a:ext cx="6239942" cy="11486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C2B69-9B0C-4569-9FD6-A3BDA91B172A}">
      <dsp:nvSpPr>
        <dsp:cNvPr id="0" name=""/>
        <dsp:cNvSpPr/>
      </dsp:nvSpPr>
      <dsp:spPr>
        <a:xfrm>
          <a:off x="0" y="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1F4C85-1434-48C8-89A3-B0F2DD09257A}">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Manufacturing in UK with strict quality and IP control.</a:t>
          </a:r>
        </a:p>
      </dsp:txBody>
      <dsp:txXfrm>
        <a:off x="0" y="0"/>
        <a:ext cx="6900512" cy="1384035"/>
      </dsp:txXfrm>
    </dsp:sp>
    <dsp:sp modelId="{9F2A8D98-F8AA-4D72-B266-3C215FA6A4A9}">
      <dsp:nvSpPr>
        <dsp:cNvPr id="0" name=""/>
        <dsp:cNvSpPr/>
      </dsp:nvSpPr>
      <dsp:spPr>
        <a:xfrm>
          <a:off x="0" y="138403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664A5C-077A-426D-BF2B-45B2A8DD899D}">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Shipping to UK warehouses for distribution.</a:t>
          </a:r>
        </a:p>
      </dsp:txBody>
      <dsp:txXfrm>
        <a:off x="0" y="1384035"/>
        <a:ext cx="6900512" cy="1384035"/>
      </dsp:txXfrm>
    </dsp:sp>
    <dsp:sp modelId="{17A96E0A-7A86-4CEB-B6C6-40F6D36FA0F3}">
      <dsp:nvSpPr>
        <dsp:cNvPr id="0" name=""/>
        <dsp:cNvSpPr/>
      </dsp:nvSpPr>
      <dsp:spPr>
        <a:xfrm>
          <a:off x="0" y="276807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CE6AD-3083-45DE-B1B3-882B405B31EB}">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Retail partnerships: Carrefour, Virgin, Sharaf DG, airports.</a:t>
          </a:r>
        </a:p>
      </dsp:txBody>
      <dsp:txXfrm>
        <a:off x="0" y="2768070"/>
        <a:ext cx="6900512" cy="1384035"/>
      </dsp:txXfrm>
    </dsp:sp>
    <dsp:sp modelId="{8DFDD068-7DB9-4B4B-99CF-B69CF13D37FF}">
      <dsp:nvSpPr>
        <dsp:cNvPr id="0" name=""/>
        <dsp:cNvSpPr/>
      </dsp:nvSpPr>
      <dsp:spPr>
        <a:xfrm>
          <a:off x="0" y="415210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6006FA-B3B6-486E-9616-3B85CEC5C724}">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UK service partner manages after-sales.</a:t>
          </a:r>
        </a:p>
      </dsp:txBody>
      <dsp:txXfrm>
        <a:off x="0" y="4152105"/>
        <a:ext cx="6900512" cy="13840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282A4-99E7-4F64-8117-DE4793879258}">
      <dsp:nvSpPr>
        <dsp:cNvPr id="0" name=""/>
        <dsp:cNvSpPr/>
      </dsp:nvSpPr>
      <dsp:spPr>
        <a:xfrm>
          <a:off x="0" y="1405274"/>
          <a:ext cx="1497508" cy="95091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60F6EB4-7003-461B-B304-D9AE6BE8B996}">
      <dsp:nvSpPr>
        <dsp:cNvPr id="0" name=""/>
        <dsp:cNvSpPr/>
      </dsp:nvSpPr>
      <dsp:spPr>
        <a:xfrm>
          <a:off x="166389" y="1563345"/>
          <a:ext cx="1497508" cy="950917"/>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Seeking </a:t>
          </a:r>
          <a:r>
            <a:rPr lang="en-US" sz="1400" b="1" kern="1200" dirty="0"/>
            <a:t>£500,000</a:t>
          </a:r>
          <a:r>
            <a:rPr lang="en-US" sz="1400" kern="1200" dirty="0"/>
            <a:t> for scaling, UK entry, and marketing.</a:t>
          </a:r>
        </a:p>
      </dsp:txBody>
      <dsp:txXfrm>
        <a:off x="194240" y="1591196"/>
        <a:ext cx="1441806" cy="895215"/>
      </dsp:txXfrm>
    </dsp:sp>
    <dsp:sp modelId="{7E989170-55BD-43A1-851C-A8A01E294D9F}">
      <dsp:nvSpPr>
        <dsp:cNvPr id="0" name=""/>
        <dsp:cNvSpPr/>
      </dsp:nvSpPr>
      <dsp:spPr>
        <a:xfrm>
          <a:off x="1830288" y="1405274"/>
          <a:ext cx="1497508" cy="95091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7F12C40-DAC9-4BC9-AD64-18431E72147C}">
      <dsp:nvSpPr>
        <dsp:cNvPr id="0" name=""/>
        <dsp:cNvSpPr/>
      </dsp:nvSpPr>
      <dsp:spPr>
        <a:xfrm>
          <a:off x="1996678" y="1563345"/>
          <a:ext cx="1497508" cy="950917"/>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Strong demand, low competition, and supportive UK environment.</a:t>
          </a:r>
        </a:p>
      </dsp:txBody>
      <dsp:txXfrm>
        <a:off x="2024529" y="1591196"/>
        <a:ext cx="1441806" cy="895215"/>
      </dsp:txXfrm>
    </dsp:sp>
    <dsp:sp modelId="{8973045B-0797-495E-80A4-D1D93D45E345}">
      <dsp:nvSpPr>
        <dsp:cNvPr id="0" name=""/>
        <dsp:cNvSpPr/>
      </dsp:nvSpPr>
      <dsp:spPr>
        <a:xfrm>
          <a:off x="3660576" y="1405274"/>
          <a:ext cx="1497508" cy="95091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639BDB1-14E1-4D5F-A4B5-016E7553F714}">
      <dsp:nvSpPr>
        <dsp:cNvPr id="0" name=""/>
        <dsp:cNvSpPr/>
      </dsp:nvSpPr>
      <dsp:spPr>
        <a:xfrm>
          <a:off x="3826966" y="1563345"/>
          <a:ext cx="1497508" cy="950917"/>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High-growth clean-tech opportunity for investors.</a:t>
          </a:r>
        </a:p>
      </dsp:txBody>
      <dsp:txXfrm>
        <a:off x="3854817" y="1591196"/>
        <a:ext cx="1441806" cy="8952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196AC0-9BE1-4B0C-854A-F6B2D96CAA32}" type="datetimeFigureOut">
              <a:rPr lang="en-GB" smtClean="0"/>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E7B208-BF0F-4169-AB7E-913EA09579D1}" type="slidenum">
              <a:rPr lang="en-GB" smtClean="0"/>
              <a:t>‹#›</a:t>
            </a:fld>
            <a:endParaRPr lang="en-GB"/>
          </a:p>
        </p:txBody>
      </p:sp>
    </p:spTree>
    <p:extLst>
      <p:ext uri="{BB962C8B-B14F-4D97-AF65-F5344CB8AC3E}">
        <p14:creationId xmlns:p14="http://schemas.microsoft.com/office/powerpoint/2010/main" val="4038632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 are pleased to present our investor vodcast. LumiCharge is the name of our business, a start-up company based in the UK, specialising in creating mobile phone charging pods powered by solar energy as portable devices. Our business responds to the growing worldwide interest in sustainable charging solutions. This is our international expansion strategy today: the United </a:t>
            </a:r>
            <a:r>
              <a:rPr lang="en-GB" sz="1200" kern="1200" dirty="0" err="1">
                <a:solidFill>
                  <a:schemeClr val="tx1"/>
                </a:solidFill>
                <a:effectLst/>
                <a:latin typeface="+mn-lt"/>
                <a:ea typeface="+mn-ea"/>
                <a:cs typeface="+mn-cs"/>
              </a:rPr>
              <a:t>Kindom</a:t>
            </a:r>
            <a:r>
              <a:rPr lang="en-GB" sz="1200" kern="1200" dirty="0">
                <a:solidFill>
                  <a:schemeClr val="tx1"/>
                </a:solidFill>
                <a:effectLst/>
                <a:latin typeface="+mn-lt"/>
                <a:ea typeface="+mn-ea"/>
                <a:cs typeface="+mn-cs"/>
              </a:rPr>
              <a:t>, a high-growth market in clean energy. We will present our business idea, support our choice of the market with PESTLE and reliable statistics, analyse the situation on the UK demand, discuss our competitors, refer to the internationalisation theories and draw conclusions, finally, risk, possibility, and definite investment request.</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2</a:t>
            </a:fld>
            <a:endParaRPr lang="en-GB"/>
          </a:p>
        </p:txBody>
      </p:sp>
    </p:spTree>
    <p:extLst>
      <p:ext uri="{BB962C8B-B14F-4D97-AF65-F5344CB8AC3E}">
        <p14:creationId xmlns:p14="http://schemas.microsoft.com/office/powerpoint/2010/main" val="893497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There have been increasing cases of global mobile dependency, but access to effective charging persists in an uneven manner, in the outdoor and travel and tourism environments. UK, despite technological advancement, is a country with a high proportion of grid dependence and minimal charging infrastructure sustainability. Lumicharge is a small, solar-powered device capable of being charged by sunlight or indoor light, and has reliable, portable, earth-friendly power. We are going to offer a solution consistent with the global sustainability concerns, energy-saving, and mobile lifestyle. It is an innovative, clean-tech consumer, traveller, and outdoor device.</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3</a:t>
            </a:fld>
            <a:endParaRPr lang="en-GB"/>
          </a:p>
        </p:txBody>
      </p:sp>
    </p:spTree>
    <p:extLst>
      <p:ext uri="{BB962C8B-B14F-4D97-AF65-F5344CB8AC3E}">
        <p14:creationId xmlns:p14="http://schemas.microsoft.com/office/powerpoint/2010/main" val="92932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 have strong strategic alignment with the UK conditions as revealed in our PESTLE analysis. Political: The UK government facilitates green innovation by incorporating long-term sustainability plans like the UK Net Zero 2050 Initiative (UK, 2024). Economic: The economic level is high, with the largest level of GDP per capita and a growing technological retail industry in the country. Social: The rate of smartphone use is above 97, and urban and tourist life is ruled by a mobile lifestyle (Statista, 2016). Technological: UK invests in the sphere of clean-tech and smart cities development that would generate demand for innovative charging devices. Law: New entrants are favourable under favourable import and clean-energy policies. Environmental: The UK has the highest exposure to sun rays, making it the best place to use products that are powered by the sun. All these factors contribute to an exciting desired market entry.</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4</a:t>
            </a:fld>
            <a:endParaRPr lang="en-GB"/>
          </a:p>
        </p:txBody>
      </p:sp>
    </p:spTree>
    <p:extLst>
      <p:ext uri="{BB962C8B-B14F-4D97-AF65-F5344CB8AC3E}">
        <p14:creationId xmlns:p14="http://schemas.microsoft.com/office/powerpoint/2010/main" val="1869859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Statistics show that sustainable charger accessories are in high demand. According to Statista (2016), there is an increasing demand in the GCC markets for greener electronics. The large digital use and tourism, as well as the outdoor lifestyle, structure of the UK, leave mobile charging in constant demand. UNCTAD (2023) points to the fact that the importation of clean-tech devices into the region increases by 22% annually. Moreover, more than 85% of UK residents are possessors of at least two or more smart devices, which implies that the necessity to have portable charging is widespread. With clean-energy behaviour coupled with high technological adoption, the UK has a high and increasing demand profile of Lumicharge.</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5</a:t>
            </a:fld>
            <a:endParaRPr lang="en-GB"/>
          </a:p>
        </p:txBody>
      </p:sp>
    </p:spTree>
    <p:extLst>
      <p:ext uri="{BB962C8B-B14F-4D97-AF65-F5344CB8AC3E}">
        <p14:creationId xmlns:p14="http://schemas.microsoft.com/office/powerpoint/2010/main" val="2388061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competitor analysis indicates that there is a low supply of quality solar-powered portable chargers. The current competition comprises generic low-priced Chinese imports and simple outdoor camping chargers, none of which have advanced smart capabilities and high-efficiency solar conversion. Power banks that are charged by the grid are mostly sold by major electronics brands in the UK, including Sharaf DG and Jumbo Electronics (Oviatt and </a:t>
            </a:r>
            <a:r>
              <a:rPr lang="en-GB" sz="1200" kern="1200" dirty="0" err="1">
                <a:solidFill>
                  <a:schemeClr val="tx1"/>
                </a:solidFill>
                <a:effectLst/>
                <a:latin typeface="+mn-lt"/>
                <a:ea typeface="+mn-ea"/>
                <a:cs typeface="+mn-cs"/>
              </a:rPr>
              <a:t>Mcdougall</a:t>
            </a:r>
            <a:r>
              <a:rPr lang="en-GB" sz="1200" kern="1200" dirty="0">
                <a:solidFill>
                  <a:schemeClr val="tx1"/>
                </a:solidFill>
                <a:effectLst/>
                <a:latin typeface="+mn-lt"/>
                <a:ea typeface="+mn-ea"/>
                <a:cs typeface="+mn-cs"/>
              </a:rPr>
              <a:t>, 2017). This indicates the existence of an obvious market niche for a competent, high-end, smart solar product. Lumicharge makes its product stand out by its exceptionally high durability, increased charging speed, compatibility with various devices, and AI-controlled energy optimisation. The competitor environment is thus supportive of a disruptive, clean-tech entrant.</a:t>
            </a:r>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6</a:t>
            </a:fld>
            <a:endParaRPr lang="en-GB"/>
          </a:p>
        </p:txBody>
      </p:sp>
    </p:spTree>
    <p:extLst>
      <p:ext uri="{BB962C8B-B14F-4D97-AF65-F5344CB8AC3E}">
        <p14:creationId xmlns:p14="http://schemas.microsoft.com/office/powerpoint/2010/main" val="663919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Our consumer study identifies three key segments, which are: tech-savvy professionals, tourists, and users of the outdoor lifestyle. Customers value convenient and sustainable, and quick charging options. UK customers are willing to spend more on high-technology products that are environmentally friendly (</a:t>
            </a:r>
            <a:r>
              <a:rPr lang="en-GB" sz="1200" kern="1200" dirty="0" err="1">
                <a:solidFill>
                  <a:schemeClr val="tx1"/>
                </a:solidFill>
                <a:effectLst/>
                <a:latin typeface="+mn-lt"/>
                <a:ea typeface="+mn-ea"/>
                <a:cs typeface="+mn-cs"/>
              </a:rPr>
              <a:t>Zucchella</a:t>
            </a:r>
            <a:r>
              <a:rPr lang="en-GB" sz="1200" kern="1200" dirty="0">
                <a:solidFill>
                  <a:schemeClr val="tx1"/>
                </a:solidFill>
                <a:effectLst/>
                <a:latin typeface="+mn-lt"/>
                <a:ea typeface="+mn-ea"/>
                <a:cs typeface="+mn-cs"/>
              </a:rPr>
              <a:t>, Hagen and Serapio, 2018). The cultural dimensions proposed by Hofstede indicate that they would prefer familiar brands and hi-tech solutions, which strengthens the necessity to have effective product positioning, quality assurance, and retail partnerships. This knowledge would validate high consumer intent on Lumicharge.</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7</a:t>
            </a:fld>
            <a:endParaRPr lang="en-GB"/>
          </a:p>
        </p:txBody>
      </p:sp>
    </p:spTree>
    <p:extLst>
      <p:ext uri="{BB962C8B-B14F-4D97-AF65-F5344CB8AC3E}">
        <p14:creationId xmlns:p14="http://schemas.microsoft.com/office/powerpoint/2010/main" val="1725055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Internationalisation strategy is a synthesis of the Uppsala Model and the Born Global Theory. The Uppsala model implies the gradual growth due to the basis of the experience-sharing, but Lumicharge has high-tech competence and a scalable product to enter proficiently across the globe. This is in line with Born Global features- firms that internationalise at a young age because of the intensity of innovation, and niche demand (Al-Laham, Welge and Joachim Schwalbach, 2009).</a:t>
            </a:r>
          </a:p>
          <a:p>
            <a:r>
              <a:rPr lang="en-GB" sz="1200" kern="1200" dirty="0">
                <a:solidFill>
                  <a:schemeClr val="tx1"/>
                </a:solidFill>
                <a:effectLst/>
                <a:latin typeface="+mn-lt"/>
                <a:ea typeface="+mn-ea"/>
                <a:cs typeface="+mn-cs"/>
              </a:rPr>
              <a:t>Our exporting model of choice is the Network Theory-supported indirect exporting model with a UK partner, who will assist in countering uncertainty and accessing the market better.</a:t>
            </a:r>
          </a:p>
          <a:p>
            <a:r>
              <a:rPr lang="en-GB" sz="1200" kern="1200" dirty="0">
                <a:solidFill>
                  <a:schemeClr val="tx1"/>
                </a:solidFill>
                <a:effectLst/>
                <a:latin typeface="+mn-lt"/>
                <a:ea typeface="+mn-ea"/>
                <a:cs typeface="+mn-cs"/>
              </a:rPr>
              <a:t>This mode of entry is less risky; it offers established distribution channel opportunities, as well as fits the preference of trust in the store and brand visibility, which is the choice of UK consumers. It also enables us to scale fast in high-end retail and tourism markets.</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8</a:t>
            </a:fld>
            <a:endParaRPr lang="en-GB"/>
          </a:p>
        </p:txBody>
      </p:sp>
    </p:spTree>
    <p:extLst>
      <p:ext uri="{BB962C8B-B14F-4D97-AF65-F5344CB8AC3E}">
        <p14:creationId xmlns:p14="http://schemas.microsoft.com/office/powerpoint/2010/main" val="1599222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Lumicharge will produce and assemble its products in the UK using special clean-technology assembly houses, and the quality will be highly controlled, and the IP secured. Goods will be transported through the UK-UK shipping and stored in Dubai logistics centres to be shipped to retailers such as Carrefour, Sharaf DG, Virgin Megastore and airport stores (Prabhu TL, 2019). This will simplify operations, and we can utilise the global logistics system available in the UK and consistent with our strategy of gradual scaling. The after-sales services to the customers will be handled by the service partner based in the UK.</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9</a:t>
            </a:fld>
            <a:endParaRPr lang="en-GB"/>
          </a:p>
        </p:txBody>
      </p:sp>
    </p:spTree>
    <p:extLst>
      <p:ext uri="{BB962C8B-B14F-4D97-AF65-F5344CB8AC3E}">
        <p14:creationId xmlns:p14="http://schemas.microsoft.com/office/powerpoint/2010/main" val="1584288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major threats are the market competition, cost fluctuations in imports, and technological imitation. To overcome these, we will ensure that we enter into a distribution agreement enabling it to secure retail shelf position, hedge against exchange rates, and safeguard our proprietary solar charging algorithm by UK IP registration (</a:t>
            </a:r>
            <a:r>
              <a:rPr lang="en-GB" sz="1200" kern="1200" dirty="0" err="1">
                <a:solidFill>
                  <a:schemeClr val="tx1"/>
                </a:solidFill>
                <a:effectLst/>
                <a:latin typeface="+mn-lt"/>
                <a:ea typeface="+mn-ea"/>
                <a:cs typeface="+mn-cs"/>
              </a:rPr>
              <a:t>Zucchella</a:t>
            </a:r>
            <a:r>
              <a:rPr lang="en-GB" sz="1200" kern="1200" dirty="0">
                <a:solidFill>
                  <a:schemeClr val="tx1"/>
                </a:solidFill>
                <a:effectLst/>
                <a:latin typeface="+mn-lt"/>
                <a:ea typeface="+mn-ea"/>
                <a:cs typeface="+mn-cs"/>
              </a:rPr>
              <a:t>, Hagen and Serapio, 2018).</a:t>
            </a:r>
          </a:p>
          <a:p>
            <a:r>
              <a:rPr lang="en-GB" sz="1200" kern="1200" dirty="0">
                <a:solidFill>
                  <a:schemeClr val="tx1"/>
                </a:solidFill>
                <a:effectLst/>
                <a:latin typeface="+mn-lt"/>
                <a:ea typeface="+mn-ea"/>
                <a:cs typeface="+mn-cs"/>
              </a:rPr>
              <a:t>The opportunities consist of the first-mover advantage with premium solar portable charging, adherence to sustainability policies in the UK, and cooperation with tourism, events, and government projects. </a:t>
            </a:r>
            <a:r>
              <a:rPr lang="en-GB" sz="1200" kern="1200" dirty="0" err="1">
                <a:solidFill>
                  <a:schemeClr val="tx1"/>
                </a:solidFill>
                <a:effectLst/>
                <a:latin typeface="+mn-lt"/>
                <a:ea typeface="+mn-ea"/>
                <a:cs typeface="+mn-cs"/>
              </a:rPr>
              <a:t>LumiCharge</a:t>
            </a:r>
            <a:r>
              <a:rPr lang="en-GB" sz="1200" kern="1200" dirty="0">
                <a:solidFill>
                  <a:schemeClr val="tx1"/>
                </a:solidFill>
                <a:effectLst/>
                <a:latin typeface="+mn-lt"/>
                <a:ea typeface="+mn-ea"/>
                <a:cs typeface="+mn-cs"/>
              </a:rPr>
              <a:t> will grow quickly with its high brand presence and local retail outlets.</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10</a:t>
            </a:fld>
            <a:endParaRPr lang="en-GB"/>
          </a:p>
        </p:txBody>
      </p:sp>
    </p:spTree>
    <p:extLst>
      <p:ext uri="{BB962C8B-B14F-4D97-AF65-F5344CB8AC3E}">
        <p14:creationId xmlns:p14="http://schemas.microsoft.com/office/powerpoint/2010/main" val="1843194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Cost Category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Description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Estimated Cost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Product Manufacturing &amp; Scaling</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First production batch of 20,000 units; component sourcing; quality control; assembly costs</a:t>
            </a:r>
          </a:p>
          <a:p>
            <a:r>
              <a:rPr lang="en-GB" sz="1200" kern="1200" dirty="0">
                <a:solidFill>
                  <a:schemeClr val="tx1"/>
                </a:solidFill>
                <a:effectLst/>
                <a:latin typeface="+mn-lt"/>
                <a:ea typeface="+mn-ea"/>
                <a:cs typeface="+mn-cs"/>
              </a:rPr>
              <a:t>£160,000</a:t>
            </a:r>
          </a:p>
          <a:p>
            <a:r>
              <a:rPr lang="en-GB" sz="1200" b="1" kern="1200" dirty="0">
                <a:solidFill>
                  <a:schemeClr val="tx1"/>
                </a:solidFill>
                <a:effectLst/>
                <a:latin typeface="+mn-lt"/>
                <a:ea typeface="+mn-ea"/>
                <a:cs typeface="+mn-cs"/>
              </a:rPr>
              <a:t>Research &amp; Development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Efficiency testing, durability trials, firmware optimisation, prototype refinement</a:t>
            </a:r>
          </a:p>
          <a:p>
            <a:r>
              <a:rPr lang="en-GB" sz="1200" kern="1200" dirty="0">
                <a:solidFill>
                  <a:schemeClr val="tx1"/>
                </a:solidFill>
                <a:effectLst/>
                <a:latin typeface="+mn-lt"/>
                <a:ea typeface="+mn-ea"/>
                <a:cs typeface="+mn-cs"/>
              </a:rPr>
              <a:t>£30,000</a:t>
            </a:r>
          </a:p>
          <a:p>
            <a:r>
              <a:rPr lang="en-GB" sz="1200" b="1" kern="1200" dirty="0">
                <a:solidFill>
                  <a:schemeClr val="tx1"/>
                </a:solidFill>
                <a:effectLst/>
                <a:latin typeface="+mn-lt"/>
                <a:ea typeface="+mn-ea"/>
                <a:cs typeface="+mn-cs"/>
              </a:rPr>
              <a:t>UK–UK Logistics Setup</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Freight shipping, customs clearance, and warehousing in the Dubai logistics hub</a:t>
            </a:r>
          </a:p>
          <a:p>
            <a:r>
              <a:rPr lang="en-GB" sz="1200" kern="1200" dirty="0">
                <a:solidFill>
                  <a:schemeClr val="tx1"/>
                </a:solidFill>
                <a:effectLst/>
                <a:latin typeface="+mn-lt"/>
                <a:ea typeface="+mn-ea"/>
                <a:cs typeface="+mn-cs"/>
              </a:rPr>
              <a:t>£40,000</a:t>
            </a:r>
          </a:p>
          <a:p>
            <a:r>
              <a:rPr lang="en-GB" sz="1200" b="1" kern="1200" dirty="0">
                <a:solidFill>
                  <a:schemeClr val="tx1"/>
                </a:solidFill>
                <a:effectLst/>
                <a:latin typeface="+mn-lt"/>
                <a:ea typeface="+mn-ea"/>
                <a:cs typeface="+mn-cs"/>
              </a:rPr>
              <a:t>UK Market Launch &amp; Distribution Partnerships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Distributor contracts, retail onboarding fees (Carrefour, Sharaf DG, Virgin Megastore)</a:t>
            </a:r>
          </a:p>
          <a:p>
            <a:r>
              <a:rPr lang="en-GB" sz="1200" kern="1200" dirty="0">
                <a:solidFill>
                  <a:schemeClr val="tx1"/>
                </a:solidFill>
                <a:effectLst/>
                <a:latin typeface="+mn-lt"/>
                <a:ea typeface="+mn-ea"/>
                <a:cs typeface="+mn-cs"/>
              </a:rPr>
              <a:t>£60,000</a:t>
            </a:r>
          </a:p>
          <a:p>
            <a:r>
              <a:rPr lang="en-GB" sz="1200" b="1" kern="1200" dirty="0">
                <a:solidFill>
                  <a:schemeClr val="tx1"/>
                </a:solidFill>
                <a:effectLst/>
                <a:latin typeface="+mn-lt"/>
                <a:ea typeface="+mn-ea"/>
                <a:cs typeface="+mn-cs"/>
              </a:rPr>
              <a:t>Marketing &amp; Promotional Campaigns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Digital marketing, influencer partnerships, launch events, expo participation, promotional materials</a:t>
            </a:r>
          </a:p>
          <a:p>
            <a:r>
              <a:rPr lang="en-GB" sz="1200" kern="1200" dirty="0">
                <a:solidFill>
                  <a:schemeClr val="tx1"/>
                </a:solidFill>
                <a:effectLst/>
                <a:latin typeface="+mn-lt"/>
                <a:ea typeface="+mn-ea"/>
                <a:cs typeface="+mn-cs"/>
              </a:rPr>
              <a:t>£85,000</a:t>
            </a:r>
          </a:p>
          <a:p>
            <a:r>
              <a:rPr lang="en-GB" sz="1200" b="1" kern="1200" dirty="0">
                <a:solidFill>
                  <a:schemeClr val="tx1"/>
                </a:solidFill>
                <a:effectLst/>
                <a:latin typeface="+mn-lt"/>
                <a:ea typeface="+mn-ea"/>
                <a:cs typeface="+mn-cs"/>
              </a:rPr>
              <a:t>Branding &amp; Packaging Design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Retail-ready packaging, localisation for the UK market, and sustainability certifications</a:t>
            </a:r>
          </a:p>
          <a:p>
            <a:r>
              <a:rPr lang="en-GB" sz="1200" kern="1200" dirty="0">
                <a:solidFill>
                  <a:schemeClr val="tx1"/>
                </a:solidFill>
                <a:effectLst/>
                <a:latin typeface="+mn-lt"/>
                <a:ea typeface="+mn-ea"/>
                <a:cs typeface="+mn-cs"/>
              </a:rPr>
              <a:t>£15,000</a:t>
            </a:r>
          </a:p>
          <a:p>
            <a:r>
              <a:rPr lang="en-GB" sz="1200" b="1" kern="1200" dirty="0">
                <a:solidFill>
                  <a:schemeClr val="tx1"/>
                </a:solidFill>
                <a:effectLst/>
                <a:latin typeface="+mn-lt"/>
                <a:ea typeface="+mn-ea"/>
                <a:cs typeface="+mn-cs"/>
              </a:rPr>
              <a:t>Legal, Compliance &amp; Intellectual Property Protection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UK product registration, UK IP filing for solar algorithm, and legal consultation</a:t>
            </a:r>
          </a:p>
          <a:p>
            <a:r>
              <a:rPr lang="en-GB" sz="1200" kern="1200" dirty="0">
                <a:solidFill>
                  <a:schemeClr val="tx1"/>
                </a:solidFill>
                <a:effectLst/>
                <a:latin typeface="+mn-lt"/>
                <a:ea typeface="+mn-ea"/>
                <a:cs typeface="+mn-cs"/>
              </a:rPr>
              <a:t>£35,000</a:t>
            </a:r>
          </a:p>
          <a:p>
            <a:r>
              <a:rPr lang="en-GB" sz="1200" b="1" kern="1200" dirty="0">
                <a:solidFill>
                  <a:schemeClr val="tx1"/>
                </a:solidFill>
                <a:effectLst/>
                <a:latin typeface="+mn-lt"/>
                <a:ea typeface="+mn-ea"/>
                <a:cs typeface="+mn-cs"/>
              </a:rPr>
              <a:t>Operations &amp; Customer Support Setup</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UK-based service partner, warranty system, support training</a:t>
            </a:r>
          </a:p>
          <a:p>
            <a:r>
              <a:rPr lang="en-GB" sz="1200" kern="1200" dirty="0">
                <a:solidFill>
                  <a:schemeClr val="tx1"/>
                </a:solidFill>
                <a:effectLst/>
                <a:latin typeface="+mn-lt"/>
                <a:ea typeface="+mn-ea"/>
                <a:cs typeface="+mn-cs"/>
              </a:rPr>
              <a:t>£25,000</a:t>
            </a:r>
          </a:p>
          <a:p>
            <a:r>
              <a:rPr lang="en-GB" sz="1200" b="1" kern="1200" dirty="0">
                <a:solidFill>
                  <a:schemeClr val="tx1"/>
                </a:solidFill>
                <a:effectLst/>
                <a:latin typeface="+mn-lt"/>
                <a:ea typeface="+mn-ea"/>
                <a:cs typeface="+mn-cs"/>
              </a:rPr>
              <a:t>Team Expansion &amp; Talent Costs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Hire UK Sales Partner + part-time Business Development Executive</a:t>
            </a:r>
          </a:p>
          <a:p>
            <a:r>
              <a:rPr lang="en-GB" sz="1200" kern="1200" dirty="0">
                <a:solidFill>
                  <a:schemeClr val="tx1"/>
                </a:solidFill>
                <a:effectLst/>
                <a:latin typeface="+mn-lt"/>
                <a:ea typeface="+mn-ea"/>
                <a:cs typeface="+mn-cs"/>
              </a:rPr>
              <a:t>£35,000</a:t>
            </a:r>
          </a:p>
          <a:p>
            <a:r>
              <a:rPr lang="en-GB" sz="1200" b="1" kern="1200" dirty="0">
                <a:solidFill>
                  <a:schemeClr val="tx1"/>
                </a:solidFill>
                <a:effectLst/>
                <a:latin typeface="+mn-lt"/>
                <a:ea typeface="+mn-ea"/>
                <a:cs typeface="+mn-cs"/>
              </a:rPr>
              <a:t>Contingency Fund (10%)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Unforeseen expenses, currency fluctuations, and emergency production adjustments</a:t>
            </a:r>
          </a:p>
          <a:p>
            <a:r>
              <a:rPr lang="en-GB" sz="1200" kern="1200" dirty="0">
                <a:solidFill>
                  <a:schemeClr val="tx1"/>
                </a:solidFill>
                <a:effectLst/>
                <a:latin typeface="+mn-lt"/>
                <a:ea typeface="+mn-ea"/>
                <a:cs typeface="+mn-cs"/>
              </a:rPr>
              <a:t>£15,000</a:t>
            </a:r>
          </a:p>
          <a:p>
            <a:r>
              <a:rPr lang="en-GB" sz="1200" b="1" kern="1200" dirty="0">
                <a:solidFill>
                  <a:schemeClr val="tx1"/>
                </a:solidFill>
                <a:effectLst/>
                <a:latin typeface="+mn-lt"/>
                <a:ea typeface="+mn-ea"/>
                <a:cs typeface="+mn-cs"/>
              </a:rPr>
              <a:t>Total Investment Required</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£500,000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Total Investment Required — £500,000</a:t>
            </a:r>
          </a:p>
          <a:p>
            <a:r>
              <a:rPr lang="en-GB" sz="1200" kern="1200" dirty="0">
                <a:solidFill>
                  <a:schemeClr val="tx1"/>
                </a:solidFill>
                <a:effectLst/>
                <a:latin typeface="+mn-lt"/>
                <a:ea typeface="+mn-ea"/>
                <a:cs typeface="+mn-cs"/>
              </a:rPr>
              <a:t>We are also trying to raise £500,000 of seed funding to finance the product scaling, entry into the UK market, and marketing of the product in the region. Having high demand, a positive PESTLE framework, minimal competition, and developed clean-tech innovation, Lumicharge offers high growth potential investment. Our approach provides long-term scalability and sustainable value, as well as high correspondence to the UK clean-energy priorities (UNCTAD, 2023). We are encouraging investors to join us in revolutionising portable charging using solar power innovation. That is all the time you have. Thank you, and we do not mind your questions.</a:t>
            </a:r>
          </a:p>
          <a:p>
            <a:endParaRPr lang="en-GB" dirty="0"/>
          </a:p>
        </p:txBody>
      </p:sp>
      <p:sp>
        <p:nvSpPr>
          <p:cNvPr id="4" name="Slide Number Placeholder 3"/>
          <p:cNvSpPr>
            <a:spLocks noGrp="1"/>
          </p:cNvSpPr>
          <p:nvPr>
            <p:ph type="sldNum" sz="quarter" idx="5"/>
          </p:nvPr>
        </p:nvSpPr>
        <p:spPr/>
        <p:txBody>
          <a:bodyPr/>
          <a:lstStyle/>
          <a:p>
            <a:fld id="{66E7B208-BF0F-4169-AB7E-913EA09579D1}" type="slidenum">
              <a:rPr lang="en-GB" smtClean="0"/>
              <a:t>11</a:t>
            </a:fld>
            <a:endParaRPr lang="en-GB"/>
          </a:p>
        </p:txBody>
      </p:sp>
    </p:spTree>
    <p:extLst>
      <p:ext uri="{BB962C8B-B14F-4D97-AF65-F5344CB8AC3E}">
        <p14:creationId xmlns:p14="http://schemas.microsoft.com/office/powerpoint/2010/main" val="3094887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39B9-CAFA-0625-1F66-E1781B5F87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1DBBD4A-B070-B949-024D-A5CE05FB81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546C0FD-A20D-5AD1-F007-FD5A591E6155}"/>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47BDDF5E-9028-1CF9-1353-5E5DD7DAD6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4836AC-698C-88B8-24EC-84A89117BA23}"/>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1111235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EA36-FC61-F917-A17D-7EC6C058B6C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6D66839-C73D-8B4A-294A-887A0D9ECE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5AA1FD-B5E7-970B-737C-52CE91A47FC4}"/>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FEDAC771-5C14-5DFC-CFB4-7AFAC1BC38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E9DB06-01D3-0052-1EAC-7ACE4B21DFB5}"/>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58527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F30D-5BEE-4FBA-0108-06E25E3D66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59A3024-2168-2C56-A31A-EC79801152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AD8BFA-4505-6815-E456-28DAD5DA5D23}"/>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EA2F4767-8480-30BB-CC96-49C0F8C111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04133A-21B8-5571-6BBC-611237753905}"/>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1094452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0B078-0D9E-C47F-440F-8028BDA09E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B69DAE-4BC8-E351-9657-85BFA0F5EC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39CF2BD-3B05-360E-1C5F-4A363F5E7F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E0E0A06-3A21-15B3-8010-8572F0D9C30E}"/>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6" name="Footer Placeholder 5">
            <a:extLst>
              <a:ext uri="{FF2B5EF4-FFF2-40B4-BE49-F238E27FC236}">
                <a16:creationId xmlns:a16="http://schemas.microsoft.com/office/drawing/2014/main" id="{6B9CBC3E-DA71-0E4D-1C65-B6888F7DD6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7F0216-2FE2-8A8C-5E77-7D690CA0BF40}"/>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3720657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2E155-61A9-BD27-0A9D-BC3074B0901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4BB8942-3C87-DE5F-4683-E6A2D868C2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49635A-C21D-1B30-B7D3-EE770DCA4E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CB657F5-43E3-F5ED-0221-24B70084F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318390-B3E7-90FB-9764-B3B400D56D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0E91183-46E2-CCA9-EDD5-ED7B9F0C9716}"/>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8" name="Footer Placeholder 7">
            <a:extLst>
              <a:ext uri="{FF2B5EF4-FFF2-40B4-BE49-F238E27FC236}">
                <a16:creationId xmlns:a16="http://schemas.microsoft.com/office/drawing/2014/main" id="{4494E52F-11E3-EC7B-3721-F85805D3DD0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0FC4F16-290C-13EA-FE1E-57AE4124DB53}"/>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1064498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18DAF-A6CE-537B-E9D9-95439E261F2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07C28CF-3800-C3C8-3A6D-72D32858FF5C}"/>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4" name="Footer Placeholder 3">
            <a:extLst>
              <a:ext uri="{FF2B5EF4-FFF2-40B4-BE49-F238E27FC236}">
                <a16:creationId xmlns:a16="http://schemas.microsoft.com/office/drawing/2014/main" id="{99191406-7EC6-4FE2-4CA5-A4E7645607E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4A55021-18BB-9C44-A8B8-F24C17421616}"/>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705434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37EBD-8DAE-5C07-6D6B-5D16CDB6E857}"/>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3" name="Footer Placeholder 2">
            <a:extLst>
              <a:ext uri="{FF2B5EF4-FFF2-40B4-BE49-F238E27FC236}">
                <a16:creationId xmlns:a16="http://schemas.microsoft.com/office/drawing/2014/main" id="{1782D7EE-E249-540A-8C44-8366E463D2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ADA345-2931-36A3-8119-660CC608EE80}"/>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156218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0526-E785-96A4-51B8-290DC41CF6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4980EC0-B520-F6C9-CE06-CDF4ADBE33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8C665C-0551-9060-30BF-35F12FE0B3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45D02-1291-9613-7193-BF51539470E9}"/>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6" name="Footer Placeholder 5">
            <a:extLst>
              <a:ext uri="{FF2B5EF4-FFF2-40B4-BE49-F238E27FC236}">
                <a16:creationId xmlns:a16="http://schemas.microsoft.com/office/drawing/2014/main" id="{FC8D890D-13B5-51DF-034C-8ABFA9717B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BEA11C-A383-E460-4406-3FF96B3019CB}"/>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3449311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2AB3-091F-60B2-CE80-72B1B44D91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83068E7-1EE9-0C5C-C429-E3BFE2C045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F28C236-A533-7726-0552-A6F949443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FA05F-B445-66EF-AC73-0A19E9F690E0}"/>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6" name="Footer Placeholder 5">
            <a:extLst>
              <a:ext uri="{FF2B5EF4-FFF2-40B4-BE49-F238E27FC236}">
                <a16:creationId xmlns:a16="http://schemas.microsoft.com/office/drawing/2014/main" id="{C1EAE8B9-81F5-BC14-A14E-01A94C609D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6E4E5F-1835-7DFB-0A90-1B7370D02450}"/>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550608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E48A-FEF6-B020-57D6-B19111114F4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696EE7C-DF11-7FC4-6AE7-30F323BC32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1095EC-5CD3-629F-447F-BD393ECBFB03}"/>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6DC7A15E-A170-E876-1FCA-15796DBF54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E1F435-01FF-639B-2AAA-1EAD7F72C814}"/>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14212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92C010-94AC-41E9-0DF7-BE4284AF86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1517555-454B-81FD-7B4A-681B5A97E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A7D5EA-EA6D-11D8-D478-D31191DCA5FD}"/>
              </a:ext>
            </a:extLst>
          </p:cNvPr>
          <p:cNvSpPr>
            <a:spLocks noGrp="1"/>
          </p:cNvSpPr>
          <p:nvPr>
            <p:ph type="dt" sz="half" idx="10"/>
          </p:nvPr>
        </p:nvSpPr>
        <p:spPr/>
        <p:txBody>
          <a:body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695A3EC5-9A82-F50B-78FD-46A07AF4E6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0FAD57-BA12-3CE4-8563-B4E792114745}"/>
              </a:ext>
            </a:extLst>
          </p:cNvPr>
          <p:cNvSpPr>
            <a:spLocks noGrp="1"/>
          </p:cNvSpPr>
          <p:nvPr>
            <p:ph type="sldNum" sz="quarter" idx="12"/>
          </p:nvPr>
        </p:nvSpPr>
        <p:spPr/>
        <p:txBody>
          <a:bodyPr/>
          <a:lstStyle/>
          <a:p>
            <a:fld id="{22C01517-70F1-4CF2-94DD-82AA65F8A785}" type="slidenum">
              <a:rPr lang="en-GB" smtClean="0"/>
              <a:t>‹#›</a:t>
            </a:fld>
            <a:endParaRPr lang="en-GB"/>
          </a:p>
        </p:txBody>
      </p:sp>
    </p:spTree>
    <p:extLst>
      <p:ext uri="{BB962C8B-B14F-4D97-AF65-F5344CB8AC3E}">
        <p14:creationId xmlns:p14="http://schemas.microsoft.com/office/powerpoint/2010/main" val="857569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D3B678-0321-A1BC-ED63-57274CCC6A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DAFB7D-E179-9D2F-0A14-FE4541EA5A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7CA2AA-B767-6327-D39E-BCD4EEFEA8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B95BBE-F889-47BD-A40B-E08F07008A4D}" type="datetimeFigureOut">
              <a:rPr lang="en-GB" smtClean="0"/>
              <a:t>06/12/2025</a:t>
            </a:fld>
            <a:endParaRPr lang="en-GB"/>
          </a:p>
        </p:txBody>
      </p:sp>
      <p:sp>
        <p:nvSpPr>
          <p:cNvPr id="5" name="Footer Placeholder 4">
            <a:extLst>
              <a:ext uri="{FF2B5EF4-FFF2-40B4-BE49-F238E27FC236}">
                <a16:creationId xmlns:a16="http://schemas.microsoft.com/office/drawing/2014/main" id="{6311AEBD-84F0-23B0-0BE8-F4922922D4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689FA27-27BD-8788-92F5-1F66E7796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01517-70F1-4CF2-94DD-82AA65F8A785}" type="slidenum">
              <a:rPr lang="en-GB" smtClean="0"/>
              <a:t>‹#›</a:t>
            </a:fld>
            <a:endParaRPr lang="en-GB"/>
          </a:p>
        </p:txBody>
      </p:sp>
    </p:spTree>
    <p:extLst>
      <p:ext uri="{BB962C8B-B14F-4D97-AF65-F5344CB8AC3E}">
        <p14:creationId xmlns:p14="http://schemas.microsoft.com/office/powerpoint/2010/main" val="3638791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1.jpeg"/><Relationship Id="rId7" Type="http://schemas.openxmlformats.org/officeDocument/2006/relationships/diagramColors" Target="../diagrams/colors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solar panel farm">
            <a:extLst>
              <a:ext uri="{FF2B5EF4-FFF2-40B4-BE49-F238E27FC236}">
                <a16:creationId xmlns:a16="http://schemas.microsoft.com/office/drawing/2014/main" id="{6066F0EF-EB7D-72F8-A098-E59927FF5D7D}"/>
              </a:ext>
            </a:extLst>
          </p:cNvPr>
          <p:cNvPicPr>
            <a:picLocks noChangeAspect="1"/>
          </p:cNvPicPr>
          <p:nvPr/>
        </p:nvPicPr>
        <p:blipFill>
          <a:blip r:embed="rId2">
            <a:alphaModFix amt="60000"/>
          </a:blip>
          <a:srcRect t="15094"/>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338A3065-BB18-F532-75EB-2D3C1A85E71F}"/>
              </a:ext>
            </a:extLst>
          </p:cNvPr>
          <p:cNvSpPr>
            <a:spLocks noGrp="1"/>
          </p:cNvSpPr>
          <p:nvPr>
            <p:ph type="ctrTitle"/>
          </p:nvPr>
        </p:nvSpPr>
        <p:spPr>
          <a:xfrm>
            <a:off x="934237" y="1065376"/>
            <a:ext cx="9875520" cy="3299902"/>
          </a:xfrm>
        </p:spPr>
        <p:txBody>
          <a:bodyPr>
            <a:normAutofit/>
          </a:bodyPr>
          <a:lstStyle/>
          <a:p>
            <a:r>
              <a:rPr lang="en-US" dirty="0">
                <a:solidFill>
                  <a:srgbClr val="FFFFFF"/>
                </a:solidFill>
              </a:rPr>
              <a:t>Task 1: Lumicharge: Powering the Future with Solar Innovation</a:t>
            </a:r>
            <a:endParaRPr lang="en-GB" dirty="0">
              <a:solidFill>
                <a:srgbClr val="FFFFFF"/>
              </a:solidFill>
            </a:endParaRPr>
          </a:p>
        </p:txBody>
      </p:sp>
      <p:sp>
        <p:nvSpPr>
          <p:cNvPr id="3" name="Subtitle 2">
            <a:extLst>
              <a:ext uri="{FF2B5EF4-FFF2-40B4-BE49-F238E27FC236}">
                <a16:creationId xmlns:a16="http://schemas.microsoft.com/office/drawing/2014/main" id="{FB011A1F-50EE-2A58-F30E-90E58D209629}"/>
              </a:ext>
            </a:extLst>
          </p:cNvPr>
          <p:cNvSpPr>
            <a:spLocks noGrp="1"/>
          </p:cNvSpPr>
          <p:nvPr>
            <p:ph type="subTitle" idx="1"/>
          </p:nvPr>
        </p:nvSpPr>
        <p:spPr>
          <a:xfrm>
            <a:off x="379089" y="5079435"/>
            <a:ext cx="9875520" cy="1414355"/>
          </a:xfrm>
        </p:spPr>
        <p:txBody>
          <a:bodyPr anchor="b">
            <a:normAutofit/>
          </a:bodyPr>
          <a:lstStyle/>
          <a:p>
            <a:pPr algn="l"/>
            <a:r>
              <a:rPr lang="en-US" dirty="0">
                <a:solidFill>
                  <a:srgbClr val="FFFFFF"/>
                </a:solidFill>
              </a:rPr>
              <a:t>Student ID:</a:t>
            </a:r>
          </a:p>
          <a:p>
            <a:pPr algn="l"/>
            <a:r>
              <a:rPr lang="en-US" dirty="0">
                <a:solidFill>
                  <a:srgbClr val="FFFFFF"/>
                </a:solidFill>
              </a:rPr>
              <a:t>Student Name:</a:t>
            </a:r>
            <a:endParaRPr lang="en-GB" dirty="0">
              <a:solidFill>
                <a:srgbClr val="FFFFFF"/>
              </a:solidFill>
            </a:endParaRPr>
          </a:p>
        </p:txBody>
      </p:sp>
    </p:spTree>
    <p:extLst>
      <p:ext uri="{BB962C8B-B14F-4D97-AF65-F5344CB8AC3E}">
        <p14:creationId xmlns:p14="http://schemas.microsoft.com/office/powerpoint/2010/main" val="384074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48B1D-3018-D2FF-1C8C-6D44D178F1AA}"/>
              </a:ext>
            </a:extLst>
          </p:cNvPr>
          <p:cNvSpPr>
            <a:spLocks noGrp="1"/>
          </p:cNvSpPr>
          <p:nvPr>
            <p:ph type="title"/>
          </p:nvPr>
        </p:nvSpPr>
        <p:spPr>
          <a:xfrm>
            <a:off x="761803" y="350196"/>
            <a:ext cx="4646904" cy="1624520"/>
          </a:xfrm>
        </p:spPr>
        <p:txBody>
          <a:bodyPr anchor="ctr">
            <a:normAutofit/>
          </a:bodyPr>
          <a:lstStyle/>
          <a:p>
            <a:r>
              <a:rPr lang="en-US" sz="4000"/>
              <a:t>Introduction</a:t>
            </a:r>
            <a:endParaRPr lang="en-GB" sz="4000"/>
          </a:p>
        </p:txBody>
      </p:sp>
      <p:sp>
        <p:nvSpPr>
          <p:cNvPr id="3" name="Content Placeholder 2">
            <a:extLst>
              <a:ext uri="{FF2B5EF4-FFF2-40B4-BE49-F238E27FC236}">
                <a16:creationId xmlns:a16="http://schemas.microsoft.com/office/drawing/2014/main" id="{1A49E974-7EF7-D62E-FF86-84D2861692FC}"/>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US" sz="2000" dirty="0"/>
              <a:t>LumiCharge: UK clean-tech start-up creating solar-powered mobile charging pods.</a:t>
            </a:r>
          </a:p>
          <a:p>
            <a:pPr>
              <a:buFont typeface="Arial" panose="020B0604020202020204" pitchFamily="34" charset="0"/>
              <a:buChar char="•"/>
            </a:pPr>
            <a:r>
              <a:rPr lang="en-US" sz="2000" dirty="0"/>
              <a:t>Responding to global demand for sustainable, portable charging.</a:t>
            </a:r>
          </a:p>
          <a:p>
            <a:pPr>
              <a:buFont typeface="Arial" panose="020B0604020202020204" pitchFamily="34" charset="0"/>
              <a:buChar char="•"/>
            </a:pPr>
            <a:r>
              <a:rPr lang="en-US" sz="2000" dirty="0"/>
              <a:t>Expanding into the UK using PESTLE, market data, and a clear investment plan.</a:t>
            </a:r>
          </a:p>
          <a:p>
            <a:endParaRPr lang="en-GB" sz="2000" dirty="0"/>
          </a:p>
        </p:txBody>
      </p:sp>
      <p:pic>
        <p:nvPicPr>
          <p:cNvPr id="5" name="Picture 4" descr="Close up of a solar panel">
            <a:extLst>
              <a:ext uri="{FF2B5EF4-FFF2-40B4-BE49-F238E27FC236}">
                <a16:creationId xmlns:a16="http://schemas.microsoft.com/office/drawing/2014/main" id="{C585AAA0-D755-FF93-3549-00338050A952}"/>
              </a:ext>
            </a:extLst>
          </p:cNvPr>
          <p:cNvPicPr>
            <a:picLocks noChangeAspect="1"/>
          </p:cNvPicPr>
          <p:nvPr/>
        </p:nvPicPr>
        <p:blipFill>
          <a:blip r:embed="rId3"/>
          <a:srcRect l="21702" r="18898"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34763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115C9-F040-2BD8-7B62-7FCD886B20D3}"/>
              </a:ext>
            </a:extLst>
          </p:cNvPr>
          <p:cNvSpPr>
            <a:spLocks noGrp="1"/>
          </p:cNvSpPr>
          <p:nvPr>
            <p:ph type="title"/>
          </p:nvPr>
        </p:nvSpPr>
        <p:spPr>
          <a:xfrm>
            <a:off x="640080" y="325369"/>
            <a:ext cx="4368602" cy="1956841"/>
          </a:xfrm>
        </p:spPr>
        <p:txBody>
          <a:bodyPr anchor="b">
            <a:normAutofit/>
          </a:bodyPr>
          <a:lstStyle/>
          <a:p>
            <a:r>
              <a:rPr lang="en-US" sz="5400"/>
              <a:t>The Problem &amp; Our Solution</a:t>
            </a:r>
            <a:endParaRPr lang="en-GB" sz="5400"/>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D82C6C-F693-2CA2-E047-0749B1709961}"/>
              </a:ext>
            </a:extLst>
          </p:cNvPr>
          <p:cNvSpPr>
            <a:spLocks noGrp="1"/>
          </p:cNvSpPr>
          <p:nvPr>
            <p:ph idx="1"/>
          </p:nvPr>
        </p:nvSpPr>
        <p:spPr>
          <a:xfrm>
            <a:off x="640080" y="2872899"/>
            <a:ext cx="4243589" cy="3320668"/>
          </a:xfrm>
        </p:spPr>
        <p:txBody>
          <a:bodyPr>
            <a:normAutofit/>
          </a:bodyPr>
          <a:lstStyle/>
          <a:p>
            <a:pPr>
              <a:buFont typeface="Arial" panose="020B0604020202020204" pitchFamily="34" charset="0"/>
              <a:buChar char="•"/>
            </a:pPr>
            <a:r>
              <a:rPr lang="en-US" sz="1700" dirty="0"/>
              <a:t>Rising mobile dependency but limited outdoor/ travel charging access.</a:t>
            </a:r>
          </a:p>
          <a:p>
            <a:pPr>
              <a:buFont typeface="Arial" panose="020B0604020202020204" pitchFamily="34" charset="0"/>
              <a:buChar char="•"/>
            </a:pPr>
            <a:r>
              <a:rPr lang="en-US" sz="1700" dirty="0"/>
              <a:t>UK still highly grid-dependent with low sustainable charging options.</a:t>
            </a:r>
          </a:p>
          <a:p>
            <a:pPr>
              <a:buFont typeface="Arial" panose="020B0604020202020204" pitchFamily="34" charset="0"/>
              <a:buChar char="•"/>
            </a:pPr>
            <a:r>
              <a:rPr lang="en-US" sz="1700" dirty="0"/>
              <a:t>Lumicharge: compact, solar-powered, portable, eco-friendly charger.</a:t>
            </a:r>
          </a:p>
          <a:p>
            <a:pPr>
              <a:buFont typeface="Arial" panose="020B0604020202020204" pitchFamily="34" charset="0"/>
              <a:buChar char="•"/>
            </a:pPr>
            <a:r>
              <a:rPr lang="en-US" sz="1700" dirty="0"/>
              <a:t>Meets sustainability goals and supports a mobile, on-the-go lifestyle.</a:t>
            </a:r>
          </a:p>
          <a:p>
            <a:endParaRPr lang="en-GB" sz="1700" dirty="0"/>
          </a:p>
        </p:txBody>
      </p:sp>
      <p:pic>
        <p:nvPicPr>
          <p:cNvPr id="1026" name="Picture 2" descr="Free Portable solar charger Photo - Solar, Charger, Portable | Download at  StockCake">
            <a:extLst>
              <a:ext uri="{FF2B5EF4-FFF2-40B4-BE49-F238E27FC236}">
                <a16:creationId xmlns:a16="http://schemas.microsoft.com/office/drawing/2014/main" id="{D3290AAE-5FBA-9401-0A80-629945A38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2" r="-1"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805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1AFB39D-0158-296A-501F-F65403051D80}"/>
              </a:ext>
            </a:extLst>
          </p:cNvPr>
          <p:cNvSpPr>
            <a:spLocks noGrp="1"/>
          </p:cNvSpPr>
          <p:nvPr>
            <p:ph type="title"/>
          </p:nvPr>
        </p:nvSpPr>
        <p:spPr>
          <a:xfrm>
            <a:off x="838200" y="1195697"/>
            <a:ext cx="3200400" cy="4238118"/>
          </a:xfrm>
        </p:spPr>
        <p:txBody>
          <a:bodyPr>
            <a:normAutofit/>
          </a:bodyPr>
          <a:lstStyle/>
          <a:p>
            <a:r>
              <a:rPr lang="en-US" dirty="0">
                <a:solidFill>
                  <a:schemeClr val="bg1"/>
                </a:solidFill>
              </a:rPr>
              <a:t>Why UK? PESTLE Market Justification</a:t>
            </a:r>
            <a:endParaRPr lang="en-GB" dirty="0">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000BFDBA-F967-315E-8D36-FFA5631B6F20}"/>
              </a:ext>
            </a:extLst>
          </p:cNvPr>
          <p:cNvGraphicFramePr>
            <a:graphicFrameLocks noGrp="1"/>
          </p:cNvGraphicFramePr>
          <p:nvPr>
            <p:ph idx="1"/>
            <p:extLst>
              <p:ext uri="{D42A27DB-BD31-4B8C-83A1-F6EECF244321}">
                <p14:modId xmlns:p14="http://schemas.microsoft.com/office/powerpoint/2010/main" val="2698008176"/>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6122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AD0B8F74-A90E-DD74-1975-8956A6B3CF81}"/>
              </a:ext>
            </a:extLst>
          </p:cNvPr>
          <p:cNvPicPr>
            <a:picLocks noChangeAspect="1"/>
          </p:cNvPicPr>
          <p:nvPr/>
        </p:nvPicPr>
        <p:blipFill>
          <a:blip r:embed="rId3"/>
          <a:srcRect l="47598" r="8027"/>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24ED70-8868-2E5C-FC39-DD12AAC8943A}"/>
              </a:ext>
            </a:extLst>
          </p:cNvPr>
          <p:cNvSpPr>
            <a:spLocks noGrp="1"/>
          </p:cNvSpPr>
          <p:nvPr>
            <p:ph type="title"/>
          </p:nvPr>
        </p:nvSpPr>
        <p:spPr>
          <a:xfrm>
            <a:off x="6115317" y="405685"/>
            <a:ext cx="5464968" cy="1559301"/>
          </a:xfrm>
        </p:spPr>
        <p:txBody>
          <a:bodyPr>
            <a:normAutofit/>
          </a:bodyPr>
          <a:lstStyle/>
          <a:p>
            <a:r>
              <a:rPr lang="en-US" sz="4000"/>
              <a:t>Market Research: Demand Trends </a:t>
            </a:r>
            <a:endParaRPr lang="en-GB" sz="4000"/>
          </a:p>
        </p:txBody>
      </p:sp>
      <p:sp>
        <p:nvSpPr>
          <p:cNvPr id="3" name="Content Placeholder 2">
            <a:extLst>
              <a:ext uri="{FF2B5EF4-FFF2-40B4-BE49-F238E27FC236}">
                <a16:creationId xmlns:a16="http://schemas.microsoft.com/office/drawing/2014/main" id="{8F96C561-E1BF-8C40-B912-0D960547F51A}"/>
              </a:ext>
            </a:extLst>
          </p:cNvPr>
          <p:cNvSpPr>
            <a:spLocks noGrp="1"/>
          </p:cNvSpPr>
          <p:nvPr>
            <p:ph idx="1"/>
          </p:nvPr>
        </p:nvSpPr>
        <p:spPr>
          <a:xfrm>
            <a:off x="6115317" y="2743200"/>
            <a:ext cx="5247340" cy="3496878"/>
          </a:xfrm>
        </p:spPr>
        <p:txBody>
          <a:bodyPr anchor="ctr">
            <a:normAutofit/>
          </a:bodyPr>
          <a:lstStyle/>
          <a:p>
            <a:pPr>
              <a:buFont typeface="Arial" panose="020B0604020202020204" pitchFamily="34" charset="0"/>
              <a:buChar char="•"/>
            </a:pPr>
            <a:r>
              <a:rPr lang="en-GB" sz="2000"/>
              <a:t>Rising demand for sustainable tech accessories.</a:t>
            </a:r>
          </a:p>
          <a:p>
            <a:pPr>
              <a:buFont typeface="Arial" panose="020B0604020202020204" pitchFamily="34" charset="0"/>
              <a:buChar char="•"/>
            </a:pPr>
            <a:r>
              <a:rPr lang="en-GB" sz="2000"/>
              <a:t>GCC markets shifting toward greener electronics (Statista, 2024).</a:t>
            </a:r>
          </a:p>
          <a:p>
            <a:pPr>
              <a:buFont typeface="Arial" panose="020B0604020202020204" pitchFamily="34" charset="0"/>
              <a:buChar char="•"/>
            </a:pPr>
            <a:r>
              <a:rPr lang="en-GB" sz="2000"/>
              <a:t>Tourism + outdoor lifestyle = constant charging needs.</a:t>
            </a:r>
          </a:p>
          <a:p>
            <a:pPr>
              <a:buFont typeface="Arial" panose="020B0604020202020204" pitchFamily="34" charset="0"/>
              <a:buChar char="•"/>
            </a:pPr>
            <a:r>
              <a:rPr lang="en-GB" sz="2000"/>
              <a:t>Clean-tech imports rising 22% yearly (UNCTAD, 2023).</a:t>
            </a:r>
          </a:p>
          <a:p>
            <a:pPr>
              <a:buFont typeface="Arial" panose="020B0604020202020204" pitchFamily="34" charset="0"/>
              <a:buChar char="•"/>
            </a:pPr>
            <a:r>
              <a:rPr lang="en-GB" sz="2000"/>
              <a:t>85%+ residents own multiple smart devices → high need for portable charging.</a:t>
            </a:r>
          </a:p>
          <a:p>
            <a:endParaRPr lang="en-GB" sz="2000"/>
          </a:p>
        </p:txBody>
      </p:sp>
    </p:spTree>
    <p:extLst>
      <p:ext uri="{BB962C8B-B14F-4D97-AF65-F5344CB8AC3E}">
        <p14:creationId xmlns:p14="http://schemas.microsoft.com/office/powerpoint/2010/main" val="131509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425420-FA16-926A-9F04-14DDDE495F02}"/>
              </a:ext>
            </a:extLst>
          </p:cNvPr>
          <p:cNvSpPr>
            <a:spLocks noGrp="1"/>
          </p:cNvSpPr>
          <p:nvPr>
            <p:ph type="title"/>
          </p:nvPr>
        </p:nvSpPr>
        <p:spPr>
          <a:xfrm>
            <a:off x="640080" y="325369"/>
            <a:ext cx="4368602" cy="1956841"/>
          </a:xfrm>
        </p:spPr>
        <p:txBody>
          <a:bodyPr anchor="b">
            <a:normAutofit/>
          </a:bodyPr>
          <a:lstStyle/>
          <a:p>
            <a:r>
              <a:rPr lang="en-US" sz="4200"/>
              <a:t>Market Research: Competitor Landscape</a:t>
            </a:r>
            <a:endParaRPr lang="en-GB" sz="4200"/>
          </a:p>
        </p:txBody>
      </p:sp>
      <p:sp>
        <p:nvSpPr>
          <p:cNvPr id="205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05013A-D502-48AE-1D4A-3ED31D984429}"/>
              </a:ext>
            </a:extLst>
          </p:cNvPr>
          <p:cNvSpPr>
            <a:spLocks noGrp="1"/>
          </p:cNvSpPr>
          <p:nvPr>
            <p:ph idx="1"/>
          </p:nvPr>
        </p:nvSpPr>
        <p:spPr>
          <a:xfrm>
            <a:off x="640080" y="2872899"/>
            <a:ext cx="4243589" cy="3320668"/>
          </a:xfrm>
        </p:spPr>
        <p:txBody>
          <a:bodyPr>
            <a:normAutofit/>
          </a:bodyPr>
          <a:lstStyle/>
          <a:p>
            <a:pPr>
              <a:buFont typeface="Arial" panose="020B0604020202020204" pitchFamily="34" charset="0"/>
              <a:buChar char="•"/>
            </a:pPr>
            <a:r>
              <a:rPr lang="en-US" sz="1900"/>
              <a:t>Few quality solar-powered chargers on the market.</a:t>
            </a:r>
          </a:p>
          <a:p>
            <a:pPr>
              <a:buFont typeface="Arial" panose="020B0604020202020204" pitchFamily="34" charset="0"/>
              <a:buChar char="•"/>
            </a:pPr>
            <a:r>
              <a:rPr lang="en-US" sz="1900"/>
              <a:t>Mostly low-end imports and basic camping chargers.</a:t>
            </a:r>
          </a:p>
          <a:p>
            <a:pPr>
              <a:buFont typeface="Arial" panose="020B0604020202020204" pitchFamily="34" charset="0"/>
              <a:buChar char="•"/>
            </a:pPr>
            <a:r>
              <a:rPr lang="en-US" sz="1900"/>
              <a:t>Main retailers sell grid-charged power banks.</a:t>
            </a:r>
          </a:p>
          <a:p>
            <a:pPr>
              <a:buFont typeface="Arial" panose="020B0604020202020204" pitchFamily="34" charset="0"/>
              <a:buChar char="•"/>
            </a:pPr>
            <a:r>
              <a:rPr lang="en-US" sz="1900"/>
              <a:t>Clear niche for premium smart solar charging.</a:t>
            </a:r>
          </a:p>
          <a:p>
            <a:pPr>
              <a:buFont typeface="Arial" panose="020B0604020202020204" pitchFamily="34" charset="0"/>
              <a:buChar char="•"/>
            </a:pPr>
            <a:r>
              <a:rPr lang="en-US" sz="1900"/>
              <a:t>Lumicharge offers durability, fast charge, and AI energy optimisation.</a:t>
            </a:r>
          </a:p>
          <a:p>
            <a:endParaRPr lang="en-GB" sz="1900"/>
          </a:p>
        </p:txBody>
      </p:sp>
      <p:pic>
        <p:nvPicPr>
          <p:cNvPr id="2050" name="Picture 2" descr="Premium 565W-580W Smart Solar PV Panels for Energy Solutions - Smart Solar  Panel and Energy Panel">
            <a:extLst>
              <a:ext uri="{FF2B5EF4-FFF2-40B4-BE49-F238E27FC236}">
                <a16:creationId xmlns:a16="http://schemas.microsoft.com/office/drawing/2014/main" id="{B1B38112-2FC1-4167-959F-68CE00632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2"/>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37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D7C623-4F1B-2531-B96A-F208524C7585}"/>
              </a:ext>
            </a:extLst>
          </p:cNvPr>
          <p:cNvSpPr>
            <a:spLocks noGrp="1"/>
          </p:cNvSpPr>
          <p:nvPr>
            <p:ph type="title"/>
          </p:nvPr>
        </p:nvSpPr>
        <p:spPr>
          <a:xfrm>
            <a:off x="504967" y="675564"/>
            <a:ext cx="3609833" cy="5204085"/>
          </a:xfrm>
        </p:spPr>
        <p:txBody>
          <a:bodyPr>
            <a:normAutofit/>
          </a:bodyPr>
          <a:lstStyle/>
          <a:p>
            <a:r>
              <a:rPr lang="en-US" dirty="0"/>
              <a:t>Consumer Insights &amp; Preferences</a:t>
            </a:r>
            <a:endParaRPr lang="en-GB" dirty="0"/>
          </a:p>
        </p:txBody>
      </p:sp>
      <p:cxnSp>
        <p:nvCxnSpPr>
          <p:cNvPr id="17" name="Straight Connector 16">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9116BD2-B2BB-DF04-72F8-BF4261923021}"/>
              </a:ext>
            </a:extLst>
          </p:cNvPr>
          <p:cNvGraphicFramePr>
            <a:graphicFrameLocks noGrp="1"/>
          </p:cNvGraphicFramePr>
          <p:nvPr>
            <p:ph idx="1"/>
            <p:extLst>
              <p:ext uri="{D42A27DB-BD31-4B8C-83A1-F6EECF244321}">
                <p14:modId xmlns:p14="http://schemas.microsoft.com/office/powerpoint/2010/main" val="1474738101"/>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6545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DD34835-0DC8-01DD-FF96-69F6C817C92C}"/>
              </a:ext>
            </a:extLst>
          </p:cNvPr>
          <p:cNvSpPr>
            <a:spLocks noGrp="1"/>
          </p:cNvSpPr>
          <p:nvPr>
            <p:ph type="title"/>
          </p:nvPr>
        </p:nvSpPr>
        <p:spPr>
          <a:xfrm>
            <a:off x="621792" y="1161288"/>
            <a:ext cx="3602736" cy="4526280"/>
          </a:xfrm>
        </p:spPr>
        <p:txBody>
          <a:bodyPr>
            <a:normAutofit/>
          </a:bodyPr>
          <a:lstStyle/>
          <a:p>
            <a:r>
              <a:rPr lang="en-US" sz="4000"/>
              <a:t>Entry Strategy: Theoretical Justification</a:t>
            </a:r>
            <a:endParaRPr lang="en-GB"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A7DB2DB-F941-28FF-B03A-E7961A62151E}"/>
              </a:ext>
            </a:extLst>
          </p:cNvPr>
          <p:cNvGraphicFramePr>
            <a:graphicFrameLocks noGrp="1"/>
          </p:cNvGraphicFramePr>
          <p:nvPr>
            <p:ph idx="1"/>
            <p:extLst>
              <p:ext uri="{D42A27DB-BD31-4B8C-83A1-F6EECF244321}">
                <p14:modId xmlns:p14="http://schemas.microsoft.com/office/powerpoint/2010/main" val="321308736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617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BD7C02-A8DC-329A-7CC1-ED9292ADE997}"/>
              </a:ext>
            </a:extLst>
          </p:cNvPr>
          <p:cNvSpPr>
            <a:spLocks noGrp="1"/>
          </p:cNvSpPr>
          <p:nvPr>
            <p:ph type="title"/>
          </p:nvPr>
        </p:nvSpPr>
        <p:spPr>
          <a:xfrm>
            <a:off x="635000" y="640823"/>
            <a:ext cx="3418659" cy="5583148"/>
          </a:xfrm>
        </p:spPr>
        <p:txBody>
          <a:bodyPr anchor="ctr">
            <a:normAutofit/>
          </a:bodyPr>
          <a:lstStyle/>
          <a:p>
            <a:r>
              <a:rPr lang="en-US" sz="5000"/>
              <a:t>Logistics &amp; Operational Plan</a:t>
            </a:r>
            <a:endParaRPr lang="en-GB" sz="50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A81DDE6-75B1-A195-0607-A52DBA36747A}"/>
              </a:ext>
            </a:extLst>
          </p:cNvPr>
          <p:cNvGraphicFramePr>
            <a:graphicFrameLocks noGrp="1"/>
          </p:cNvGraphicFramePr>
          <p:nvPr>
            <p:ph idx="1"/>
            <p:extLst>
              <p:ext uri="{D42A27DB-BD31-4B8C-83A1-F6EECF244321}">
                <p14:modId xmlns:p14="http://schemas.microsoft.com/office/powerpoint/2010/main" val="229230085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516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5BD40-EFA7-FBBD-BE25-DE07B9D2B886}"/>
              </a:ext>
            </a:extLst>
          </p:cNvPr>
          <p:cNvSpPr>
            <a:spLocks noGrp="1"/>
          </p:cNvSpPr>
          <p:nvPr>
            <p:ph type="title"/>
          </p:nvPr>
        </p:nvSpPr>
        <p:spPr>
          <a:xfrm>
            <a:off x="838201" y="365125"/>
            <a:ext cx="5251316" cy="1807305"/>
          </a:xfrm>
        </p:spPr>
        <p:txBody>
          <a:bodyPr>
            <a:normAutofit/>
          </a:bodyPr>
          <a:lstStyle/>
          <a:p>
            <a:r>
              <a:rPr lang="en-US"/>
              <a:t>Risks &amp; Opportunities</a:t>
            </a:r>
            <a:endParaRPr lang="en-GB"/>
          </a:p>
        </p:txBody>
      </p:sp>
      <p:sp>
        <p:nvSpPr>
          <p:cNvPr id="3" name="Content Placeholder 2">
            <a:extLst>
              <a:ext uri="{FF2B5EF4-FFF2-40B4-BE49-F238E27FC236}">
                <a16:creationId xmlns:a16="http://schemas.microsoft.com/office/drawing/2014/main" id="{84E25801-9E44-88A7-B931-9233E96AA13C}"/>
              </a:ext>
            </a:extLst>
          </p:cNvPr>
          <p:cNvSpPr>
            <a:spLocks noGrp="1"/>
          </p:cNvSpPr>
          <p:nvPr>
            <p:ph idx="1"/>
          </p:nvPr>
        </p:nvSpPr>
        <p:spPr>
          <a:xfrm>
            <a:off x="838200" y="2333297"/>
            <a:ext cx="4619621" cy="3843666"/>
          </a:xfrm>
        </p:spPr>
        <p:txBody>
          <a:bodyPr>
            <a:normAutofit/>
          </a:bodyPr>
          <a:lstStyle/>
          <a:p>
            <a:pPr>
              <a:buFont typeface="Arial" panose="020B0604020202020204" pitchFamily="34" charset="0"/>
              <a:buChar char="•"/>
            </a:pPr>
            <a:r>
              <a:rPr lang="en-US" sz="2000" dirty="0"/>
              <a:t>Risks: competition, import costs, tech imitation.</a:t>
            </a:r>
          </a:p>
          <a:p>
            <a:pPr>
              <a:buFont typeface="Arial" panose="020B0604020202020204" pitchFamily="34" charset="0"/>
              <a:buChar char="•"/>
            </a:pPr>
            <a:r>
              <a:rPr lang="en-US" sz="2000" dirty="0"/>
              <a:t>Mitigation: IP protection, distribution contracts, currency hedging.</a:t>
            </a:r>
          </a:p>
          <a:p>
            <a:pPr>
              <a:buFont typeface="Arial" panose="020B0604020202020204" pitchFamily="34" charset="0"/>
              <a:buChar char="•"/>
            </a:pPr>
            <a:r>
              <a:rPr lang="en-US" sz="2000" dirty="0"/>
              <a:t>Opportunities: first-mover advantage in premium solar charging.</a:t>
            </a:r>
          </a:p>
          <a:p>
            <a:pPr>
              <a:buFont typeface="Arial" panose="020B0604020202020204" pitchFamily="34" charset="0"/>
              <a:buChar char="•"/>
            </a:pPr>
            <a:r>
              <a:rPr lang="en-US" sz="2000" dirty="0"/>
              <a:t>Strong fit with UK sustainability goals and tourism partnerships.</a:t>
            </a:r>
          </a:p>
          <a:p>
            <a:endParaRPr lang="en-GB" sz="2000" dirty="0"/>
          </a:p>
        </p:txBody>
      </p:sp>
      <p:pic>
        <p:nvPicPr>
          <p:cNvPr id="5" name="Picture 4" descr="Digital graphs and numbers in 3D">
            <a:extLst>
              <a:ext uri="{FF2B5EF4-FFF2-40B4-BE49-F238E27FC236}">
                <a16:creationId xmlns:a16="http://schemas.microsoft.com/office/drawing/2014/main" id="{3FEC30E8-4DFB-940F-0A19-C99347F818C9}"/>
              </a:ext>
            </a:extLst>
          </p:cNvPr>
          <p:cNvPicPr>
            <a:picLocks noChangeAspect="1"/>
          </p:cNvPicPr>
          <p:nvPr/>
        </p:nvPicPr>
        <p:blipFill>
          <a:blip r:embed="rId3"/>
          <a:srcRect l="24344" r="17618"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683407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7B9D5-CEF9-FE76-1FBA-D7351E22533E}"/>
              </a:ext>
            </a:extLst>
          </p:cNvPr>
          <p:cNvSpPr>
            <a:spLocks noGrp="1"/>
          </p:cNvSpPr>
          <p:nvPr>
            <p:ph type="title"/>
          </p:nvPr>
        </p:nvSpPr>
        <p:spPr>
          <a:xfrm>
            <a:off x="481011" y="327025"/>
            <a:ext cx="5324477" cy="1630363"/>
          </a:xfrm>
        </p:spPr>
        <p:txBody>
          <a:bodyPr anchor="b">
            <a:normAutofit/>
          </a:bodyPr>
          <a:lstStyle/>
          <a:p>
            <a:r>
              <a:rPr lang="en-GB" sz="3600"/>
              <a:t>Investment Pitch &amp; Closing</a:t>
            </a:r>
          </a:p>
        </p:txBody>
      </p:sp>
      <p:pic>
        <p:nvPicPr>
          <p:cNvPr id="6" name="Picture 5" descr="A close-up of a network&#10;&#10;AI-generated content may be incorrect.">
            <a:extLst>
              <a:ext uri="{FF2B5EF4-FFF2-40B4-BE49-F238E27FC236}">
                <a16:creationId xmlns:a16="http://schemas.microsoft.com/office/drawing/2014/main" id="{64FF2F86-6A63-CBFF-95B8-45B286912D94}"/>
              </a:ext>
            </a:extLst>
          </p:cNvPr>
          <p:cNvPicPr>
            <a:picLocks noChangeAspect="1"/>
          </p:cNvPicPr>
          <p:nvPr/>
        </p:nvPicPr>
        <p:blipFill>
          <a:blip r:embed="rId3"/>
          <a:srcRect l="27974" r="25264" b="1"/>
          <a:stretch>
            <a:fillRect/>
          </a:stretch>
        </p:blipFill>
        <p:spPr>
          <a:xfrm>
            <a:off x="5966355" y="1"/>
            <a:ext cx="6225645"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D7AD9819-ECFE-9E0B-0D2D-4F2F1EB5D4A7}"/>
              </a:ext>
            </a:extLst>
          </p:cNvPr>
          <p:cNvGraphicFramePr>
            <a:graphicFrameLocks noGrp="1"/>
          </p:cNvGraphicFramePr>
          <p:nvPr>
            <p:ph idx="1"/>
            <p:extLst>
              <p:ext uri="{D42A27DB-BD31-4B8C-83A1-F6EECF244321}">
                <p14:modId xmlns:p14="http://schemas.microsoft.com/office/powerpoint/2010/main" val="3261320568"/>
              </p:ext>
            </p:extLst>
          </p:nvPr>
        </p:nvGraphicFramePr>
        <p:xfrm>
          <a:off x="481013" y="2286001"/>
          <a:ext cx="5324475" cy="3919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29114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1951</Words>
  <Application>Microsoft Office PowerPoint</Application>
  <PresentationFormat>Widescreen</PresentationFormat>
  <Paragraphs>116</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Task 1: Lumicharge: Powering the Future with Solar Innovation</vt:lpstr>
      <vt:lpstr>Introduction</vt:lpstr>
      <vt:lpstr>The Problem &amp; Our Solution</vt:lpstr>
      <vt:lpstr>Why UK? PESTLE Market Justification</vt:lpstr>
      <vt:lpstr>Market Research: Demand Trends </vt:lpstr>
      <vt:lpstr>Market Research: Competitor Landscape</vt:lpstr>
      <vt:lpstr>Consumer Insights &amp; Preferences</vt:lpstr>
      <vt:lpstr>Entry Strategy: Theoretical Justification</vt:lpstr>
      <vt:lpstr>Logistics &amp; Operational Plan</vt:lpstr>
      <vt:lpstr>Risks &amp; Opportunities</vt:lpstr>
      <vt:lpstr>Investment Pitch &amp; 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Anwer Hosain Shakib</dc:creator>
  <cp:lastModifiedBy>Anwer Hosain Shakib</cp:lastModifiedBy>
  <cp:revision>2</cp:revision>
  <dcterms:created xsi:type="dcterms:W3CDTF">2025-12-06T07:44:05Z</dcterms:created>
  <dcterms:modified xsi:type="dcterms:W3CDTF">2025-12-06T17:08:43Z</dcterms:modified>
</cp:coreProperties>
</file>