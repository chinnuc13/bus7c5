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2" d="100"/>
          <a:sy n="62" d="100"/>
        </p:scale>
        <p:origin x="2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073EAB-CB58-4669-AF02-7F607958A014}" type="datetimeFigureOut">
              <a:rPr lang="en-GB" smtClean="0"/>
              <a:t>06/12/2025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E3B161-9E76-4636-964A-C2BE25EA597B}" type="slidenum">
              <a:rPr lang="en-GB" smtClean="0"/>
              <a:t>‹#›</a:t>
            </a:fld>
            <a:endParaRPr lang="en-GB"/>
          </a:p>
        </p:txBody>
      </p:sp>
    </p:spTree>
    <p:extLst>
      <p:ext uri="{BB962C8B-B14F-4D97-AF65-F5344CB8AC3E}">
        <p14:creationId xmlns:p14="http://schemas.microsoft.com/office/powerpoint/2010/main" val="1791525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Lumicharge, the smart solar-powered charging pod that we are launching under our campaign, targets users of mobile devices in the UK. The campaign will specifically target the five core segments, such as the young tech users, commuters, outdoor lifestyle users, tourists and sustainability-conscious residents. Based on the STP segmentation principles, we position Lumicharge as a high-end, clean-energy attribute that embraces contemporary living in the UK (Sharp, Dawes and Victory, 2024). The cultural dimensions created by Hofstede help us to communicate: since Power Distance is high, it will optimise premium, credible branding, whereas since people are collectivist, imagery of groups, families, and shared outdoor activities will be encouraged. This guarantees a culturally and socio-emotionally appealing campaign.</a:t>
            </a:r>
          </a:p>
          <a:p>
            <a:endParaRPr lang="en-GB" dirty="0"/>
          </a:p>
        </p:txBody>
      </p:sp>
      <p:sp>
        <p:nvSpPr>
          <p:cNvPr id="4" name="Slide Number Placeholder 3"/>
          <p:cNvSpPr>
            <a:spLocks noGrp="1"/>
          </p:cNvSpPr>
          <p:nvPr>
            <p:ph type="sldNum" sz="quarter" idx="5"/>
          </p:nvPr>
        </p:nvSpPr>
        <p:spPr/>
        <p:txBody>
          <a:bodyPr/>
          <a:lstStyle/>
          <a:p>
            <a:fld id="{AEE3B161-9E76-4636-964A-C2BE25EA597B}" type="slidenum">
              <a:rPr lang="en-GB" smtClean="0"/>
              <a:t>2</a:t>
            </a:fld>
            <a:endParaRPr lang="en-GB"/>
          </a:p>
        </p:txBody>
      </p:sp>
    </p:spTree>
    <p:extLst>
      <p:ext uri="{BB962C8B-B14F-4D97-AF65-F5344CB8AC3E}">
        <p14:creationId xmlns:p14="http://schemas.microsoft.com/office/powerpoint/2010/main" val="4108247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Our campaign combines the 7Ps in order to satisfy the marketing theory requirements.</a:t>
            </a:r>
          </a:p>
          <a:p>
            <a:r>
              <a:rPr lang="en-GB" sz="1200" b="1" kern="1200" dirty="0">
                <a:solidFill>
                  <a:schemeClr val="tx1"/>
                </a:solidFill>
                <a:effectLst/>
                <a:latin typeface="+mn-lt"/>
                <a:ea typeface="+mn-ea"/>
                <a:cs typeface="+mn-cs"/>
              </a:rPr>
              <a:t>Product:</a:t>
            </a:r>
            <a:r>
              <a:rPr lang="en-GB" sz="1200" kern="1200" dirty="0">
                <a:solidFill>
                  <a:schemeClr val="tx1"/>
                </a:solidFill>
                <a:effectLst/>
                <a:latin typeface="+mn-lt"/>
                <a:ea typeface="+mn-ea"/>
                <a:cs typeface="+mn-cs"/>
              </a:rPr>
              <a:t> A solar charging pod that is enduring and heat-resistant and is equipped with AI energy optimisation.</a:t>
            </a:r>
          </a:p>
          <a:p>
            <a:r>
              <a:rPr lang="en-GB" sz="1200" b="1" kern="1200" dirty="0">
                <a:solidFill>
                  <a:schemeClr val="tx1"/>
                </a:solidFill>
                <a:effectLst/>
                <a:latin typeface="+mn-lt"/>
                <a:ea typeface="+mn-ea"/>
                <a:cs typeface="+mn-cs"/>
              </a:rPr>
              <a:t>Pricing:</a:t>
            </a:r>
            <a:r>
              <a:rPr lang="en-GB" sz="1200" kern="1200" dirty="0">
                <a:solidFill>
                  <a:schemeClr val="tx1"/>
                </a:solidFill>
                <a:effectLst/>
                <a:latin typeface="+mn-lt"/>
                <a:ea typeface="+mn-ea"/>
                <a:cs typeface="+mn-cs"/>
              </a:rPr>
              <a:t> The price will be mid-premium as they need to capture quality and meet the UK consumer expectations.</a:t>
            </a:r>
          </a:p>
          <a:p>
            <a:r>
              <a:rPr lang="en-GB" sz="1200" b="1" kern="1200" dirty="0">
                <a:solidFill>
                  <a:schemeClr val="tx1"/>
                </a:solidFill>
                <a:effectLst/>
                <a:latin typeface="+mn-lt"/>
                <a:ea typeface="+mn-ea"/>
                <a:cs typeface="+mn-cs"/>
              </a:rPr>
              <a:t>Place:</a:t>
            </a:r>
            <a:r>
              <a:rPr lang="en-GB" sz="1200" kern="1200" dirty="0">
                <a:solidFill>
                  <a:schemeClr val="tx1"/>
                </a:solidFill>
                <a:effectLst/>
                <a:latin typeface="+mn-lt"/>
                <a:ea typeface="+mn-ea"/>
                <a:cs typeface="+mn-cs"/>
              </a:rPr>
              <a:t> Retail distribution via Sharaf DG, Virgin Megastore, Carrefour, UK Airport stores, and Amazon AE and Noon.</a:t>
            </a:r>
          </a:p>
          <a:p>
            <a:r>
              <a:rPr lang="en-GB" sz="1200" b="1" kern="1200" dirty="0">
                <a:solidFill>
                  <a:schemeClr val="tx1"/>
                </a:solidFill>
                <a:effectLst/>
                <a:latin typeface="+mn-lt"/>
                <a:ea typeface="+mn-ea"/>
                <a:cs typeface="+mn-cs"/>
              </a:rPr>
              <a:t>Promotion:</a:t>
            </a:r>
            <a:r>
              <a:rPr lang="en-GB" sz="1200" kern="1200" dirty="0">
                <a:solidFill>
                  <a:schemeClr val="tx1"/>
                </a:solidFill>
                <a:effectLst/>
                <a:latin typeface="+mn-lt"/>
                <a:ea typeface="+mn-ea"/>
                <a:cs typeface="+mn-cs"/>
              </a:rPr>
              <a:t> Influencer partnerships, TikTok ads, Instagram reels, outdoor digital billboards, and a 30-second advertising video showing real-life usage.</a:t>
            </a:r>
          </a:p>
          <a:p>
            <a:r>
              <a:rPr lang="en-GB" sz="1200" b="1" kern="1200" dirty="0">
                <a:solidFill>
                  <a:schemeClr val="tx1"/>
                </a:solidFill>
                <a:effectLst/>
                <a:latin typeface="+mn-lt"/>
                <a:ea typeface="+mn-ea"/>
                <a:cs typeface="+mn-cs"/>
              </a:rPr>
              <a:t>People:</a:t>
            </a:r>
            <a:r>
              <a:rPr lang="en-GB" sz="1200" kern="1200" dirty="0">
                <a:solidFill>
                  <a:schemeClr val="tx1"/>
                </a:solidFill>
                <a:effectLst/>
                <a:latin typeface="+mn-lt"/>
                <a:ea typeface="+mn-ea"/>
                <a:cs typeface="+mn-cs"/>
              </a:rPr>
              <a:t> Trained brand ambassadors of the UK in the stores to demonstrate features (</a:t>
            </a:r>
            <a:r>
              <a:rPr lang="en-GB" sz="1200" kern="1200" dirty="0" err="1">
                <a:solidFill>
                  <a:schemeClr val="tx1"/>
                </a:solidFill>
                <a:effectLst/>
                <a:latin typeface="+mn-lt"/>
                <a:ea typeface="+mn-ea"/>
                <a:cs typeface="+mn-cs"/>
              </a:rPr>
              <a:t>Ghabban</a:t>
            </a:r>
            <a:r>
              <a:rPr lang="en-GB" sz="1200" kern="1200" dirty="0">
                <a:solidFill>
                  <a:schemeClr val="tx1"/>
                </a:solidFill>
                <a:effectLst/>
                <a:latin typeface="+mn-lt"/>
                <a:ea typeface="+mn-ea"/>
                <a:cs typeface="+mn-cs"/>
              </a:rPr>
              <a:t>, 2025).</a:t>
            </a:r>
          </a:p>
          <a:p>
            <a:r>
              <a:rPr lang="en-GB" sz="1200" b="1" kern="1200" dirty="0">
                <a:solidFill>
                  <a:schemeClr val="tx1"/>
                </a:solidFill>
                <a:effectLst/>
                <a:latin typeface="+mn-lt"/>
                <a:ea typeface="+mn-ea"/>
                <a:cs typeface="+mn-cs"/>
              </a:rPr>
              <a:t>Process:</a:t>
            </a:r>
            <a:r>
              <a:rPr lang="en-GB" sz="1200" kern="1200" dirty="0">
                <a:solidFill>
                  <a:schemeClr val="tx1"/>
                </a:solidFill>
                <a:effectLst/>
                <a:latin typeface="+mn-lt"/>
                <a:ea typeface="+mn-ea"/>
                <a:cs typeface="+mn-cs"/>
              </a:rPr>
              <a:t> Quick delivery, simplified warranty, support in the English language.</a:t>
            </a:r>
          </a:p>
          <a:p>
            <a:r>
              <a:rPr lang="en-GB" sz="1200" b="1" kern="1200" dirty="0">
                <a:solidFill>
                  <a:schemeClr val="tx1"/>
                </a:solidFill>
                <a:effectLst/>
                <a:latin typeface="+mn-lt"/>
                <a:ea typeface="+mn-ea"/>
                <a:cs typeface="+mn-cs"/>
              </a:rPr>
              <a:t>Physical Evidence:</a:t>
            </a:r>
            <a:r>
              <a:rPr lang="en-GB" sz="1200" kern="1200" dirty="0">
                <a:solidFill>
                  <a:schemeClr val="tx1"/>
                </a:solidFill>
                <a:effectLst/>
                <a:latin typeface="+mn-lt"/>
                <a:ea typeface="+mn-ea"/>
                <a:cs typeface="+mn-cs"/>
              </a:rPr>
              <a:t> The symbols of premium packaging and sustainability certifications.</a:t>
            </a:r>
          </a:p>
          <a:p>
            <a:r>
              <a:rPr lang="en-GB" sz="1200" kern="1200" dirty="0">
                <a:solidFill>
                  <a:schemeClr val="tx1"/>
                </a:solidFill>
                <a:effectLst/>
                <a:latin typeface="+mn-lt"/>
                <a:ea typeface="+mn-ea"/>
                <a:cs typeface="+mn-cs"/>
              </a:rPr>
              <a:t>This consistent combination provides strategic transparency and a manner of positioning in the market.</a:t>
            </a:r>
          </a:p>
          <a:p>
            <a:endParaRPr lang="en-GB" dirty="0"/>
          </a:p>
        </p:txBody>
      </p:sp>
      <p:sp>
        <p:nvSpPr>
          <p:cNvPr id="4" name="Slide Number Placeholder 3"/>
          <p:cNvSpPr>
            <a:spLocks noGrp="1"/>
          </p:cNvSpPr>
          <p:nvPr>
            <p:ph type="sldNum" sz="quarter" idx="5"/>
          </p:nvPr>
        </p:nvSpPr>
        <p:spPr/>
        <p:txBody>
          <a:bodyPr/>
          <a:lstStyle/>
          <a:p>
            <a:fld id="{AEE3B161-9E76-4636-964A-C2BE25EA597B}" type="slidenum">
              <a:rPr lang="en-GB" smtClean="0"/>
              <a:t>4</a:t>
            </a:fld>
            <a:endParaRPr lang="en-GB"/>
          </a:p>
        </p:txBody>
      </p:sp>
    </p:spTree>
    <p:extLst>
      <p:ext uri="{BB962C8B-B14F-4D97-AF65-F5344CB8AC3E}">
        <p14:creationId xmlns:p14="http://schemas.microsoft.com/office/powerpoint/2010/main" val="273407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Our roll-out is phase-based.</a:t>
            </a:r>
          </a:p>
          <a:p>
            <a:r>
              <a:rPr lang="en-GB" sz="1200" b="1" kern="1200" dirty="0">
                <a:solidFill>
                  <a:schemeClr val="tx1"/>
                </a:solidFill>
                <a:effectLst/>
                <a:latin typeface="+mn-lt"/>
                <a:ea typeface="+mn-ea"/>
                <a:cs typeface="+mn-cs"/>
              </a:rPr>
              <a:t>Phase 1 – Awareness:</a:t>
            </a:r>
            <a:r>
              <a:rPr lang="en-GB" sz="1200" kern="1200" dirty="0">
                <a:solidFill>
                  <a:schemeClr val="tx1"/>
                </a:solidFill>
                <a:effectLst/>
                <a:latin typeface="+mn-lt"/>
                <a:ea typeface="+mn-ea"/>
                <a:cs typeface="+mn-cs"/>
              </a:rPr>
              <a:t> Teaser posts on social media, influencer unboxings, posts about the sun and countdown posts.</a:t>
            </a:r>
          </a:p>
          <a:p>
            <a:r>
              <a:rPr lang="en-GB" sz="1200" b="1" kern="1200" dirty="0">
                <a:solidFill>
                  <a:schemeClr val="tx1"/>
                </a:solidFill>
                <a:effectLst/>
                <a:latin typeface="+mn-lt"/>
                <a:ea typeface="+mn-ea"/>
                <a:cs typeface="+mn-cs"/>
              </a:rPr>
              <a:t>Phase 2 - Engagement:</a:t>
            </a:r>
            <a:r>
              <a:rPr lang="en-GB" sz="1200" kern="1200" dirty="0">
                <a:solidFill>
                  <a:schemeClr val="tx1"/>
                </a:solidFill>
                <a:effectLst/>
                <a:latin typeface="+mn-lt"/>
                <a:ea typeface="+mn-ea"/>
                <a:cs typeface="+mn-cs"/>
              </a:rPr>
              <a:t> Launch event in UK Marina consisting of live demonstrations, and then a specific advertising campaign with the help of the AIDA model to get consumers to act after attention (</a:t>
            </a:r>
            <a:r>
              <a:rPr lang="en-GB" sz="1200" kern="1200" dirty="0" err="1">
                <a:solidFill>
                  <a:schemeClr val="tx1"/>
                </a:solidFill>
                <a:effectLst/>
                <a:latin typeface="+mn-lt"/>
                <a:ea typeface="+mn-ea"/>
                <a:cs typeface="+mn-cs"/>
              </a:rPr>
              <a:t>Btelligent</a:t>
            </a:r>
            <a:r>
              <a:rPr lang="en-GB" sz="1200" kern="1200" dirty="0">
                <a:solidFill>
                  <a:schemeClr val="tx1"/>
                </a:solidFill>
                <a:effectLst/>
                <a:latin typeface="+mn-lt"/>
                <a:ea typeface="+mn-ea"/>
                <a:cs typeface="+mn-cs"/>
              </a:rPr>
              <a:t>, 2025).</a:t>
            </a:r>
          </a:p>
          <a:p>
            <a:r>
              <a:rPr lang="en-GB" sz="1200" b="1" kern="1200" dirty="0">
                <a:solidFill>
                  <a:schemeClr val="tx1"/>
                </a:solidFill>
                <a:effectLst/>
                <a:latin typeface="+mn-lt"/>
                <a:ea typeface="+mn-ea"/>
                <a:cs typeface="+mn-cs"/>
              </a:rPr>
              <a:t>Phase 3 -Conversion:</a:t>
            </a:r>
            <a:r>
              <a:rPr lang="en-GB" sz="1200" kern="1200" dirty="0">
                <a:solidFill>
                  <a:schemeClr val="tx1"/>
                </a:solidFill>
                <a:effectLst/>
                <a:latin typeface="+mn-lt"/>
                <a:ea typeface="+mn-ea"/>
                <a:cs typeface="+mn-cs"/>
              </a:rPr>
              <a:t> In-store marketing, package deals and tourist airport visibility.</a:t>
            </a:r>
          </a:p>
          <a:p>
            <a:r>
              <a:rPr lang="en-GB" sz="1200" b="1" kern="1200" dirty="0">
                <a:solidFill>
                  <a:schemeClr val="tx1"/>
                </a:solidFill>
                <a:effectLst/>
                <a:latin typeface="+mn-lt"/>
                <a:ea typeface="+mn-ea"/>
                <a:cs typeface="+mn-cs"/>
              </a:rPr>
              <a:t>Phase 4 - Retention:</a:t>
            </a:r>
            <a:r>
              <a:rPr lang="en-GB" sz="1200" kern="1200" dirty="0">
                <a:solidFill>
                  <a:schemeClr val="tx1"/>
                </a:solidFill>
                <a:effectLst/>
                <a:latin typeface="+mn-lt"/>
                <a:ea typeface="+mn-ea"/>
                <a:cs typeface="+mn-cs"/>
              </a:rPr>
              <a:t> Loyalty reward, user-generated content challenges, and sales services.</a:t>
            </a:r>
          </a:p>
          <a:p>
            <a:r>
              <a:rPr lang="en-GB" sz="1200" kern="1200" dirty="0">
                <a:solidFill>
                  <a:schemeClr val="tx1"/>
                </a:solidFill>
                <a:effectLst/>
                <a:latin typeface="+mn-lt"/>
                <a:ea typeface="+mn-ea"/>
                <a:cs typeface="+mn-cs"/>
              </a:rPr>
              <a:t>This multi-channel approach will reach its goals by maximising the touchpoints, riding on the digital behaviour of the UK, and providing a customer experience throughout the buying process, as well as discovery.</a:t>
            </a:r>
          </a:p>
          <a:p>
            <a:endParaRPr lang="en-GB" dirty="0"/>
          </a:p>
        </p:txBody>
      </p:sp>
      <p:sp>
        <p:nvSpPr>
          <p:cNvPr id="4" name="Slide Number Placeholder 3"/>
          <p:cNvSpPr>
            <a:spLocks noGrp="1"/>
          </p:cNvSpPr>
          <p:nvPr>
            <p:ph type="sldNum" sz="quarter" idx="5"/>
          </p:nvPr>
        </p:nvSpPr>
        <p:spPr/>
        <p:txBody>
          <a:bodyPr/>
          <a:lstStyle/>
          <a:p>
            <a:fld id="{AEE3B161-9E76-4636-964A-C2BE25EA597B}" type="slidenum">
              <a:rPr lang="en-GB" smtClean="0"/>
              <a:t>5</a:t>
            </a:fld>
            <a:endParaRPr lang="en-GB"/>
          </a:p>
        </p:txBody>
      </p:sp>
    </p:spTree>
    <p:extLst>
      <p:ext uri="{BB962C8B-B14F-4D97-AF65-F5344CB8AC3E}">
        <p14:creationId xmlns:p14="http://schemas.microsoft.com/office/powerpoint/2010/main" val="12113620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mn-lt"/>
                <a:ea typeface="+mn-ea"/>
                <a:cs typeface="+mn-cs"/>
              </a:rPr>
              <a:t>The advert sample includes hasty lifestyle clips in UK: commute, beach, desert camping, and crowded cafes. In every scene, Lumicharge is seen to take full control of powering devices using sunlight power. The voice of one working with an English accent says: Keep going, whatever you have planned from day to day (Prabhu TL, 2019).</a:t>
            </a:r>
          </a:p>
          <a:p>
            <a:r>
              <a:rPr lang="en-GB" sz="1200" kern="1200" dirty="0">
                <a:solidFill>
                  <a:schemeClr val="tx1"/>
                </a:solidFill>
                <a:effectLst/>
                <a:latin typeface="+mn-lt"/>
                <a:ea typeface="+mn-ea"/>
                <a:cs typeface="+mn-cs"/>
              </a:rPr>
              <a:t>The last learning is that the campaign is a positive indicator of cultural adaptation, theory and imagination. This campaign has been innovative and strategic in its communication, thus qualifying as an excellent performance by being integrated with Hofstede, AIDA and the 7Ps. Lumicharge will be the most reputable clean energy portable charging device in the UK.</a:t>
            </a:r>
          </a:p>
          <a:p>
            <a:endParaRPr lang="en-GB" dirty="0"/>
          </a:p>
        </p:txBody>
      </p:sp>
      <p:sp>
        <p:nvSpPr>
          <p:cNvPr id="4" name="Slide Number Placeholder 3"/>
          <p:cNvSpPr>
            <a:spLocks noGrp="1"/>
          </p:cNvSpPr>
          <p:nvPr>
            <p:ph type="sldNum" sz="quarter" idx="5"/>
          </p:nvPr>
        </p:nvSpPr>
        <p:spPr/>
        <p:txBody>
          <a:bodyPr/>
          <a:lstStyle/>
          <a:p>
            <a:fld id="{AEE3B161-9E76-4636-964A-C2BE25EA597B}" type="slidenum">
              <a:rPr lang="en-GB" smtClean="0"/>
              <a:t>6</a:t>
            </a:fld>
            <a:endParaRPr lang="en-GB"/>
          </a:p>
        </p:txBody>
      </p:sp>
    </p:spTree>
    <p:extLst>
      <p:ext uri="{BB962C8B-B14F-4D97-AF65-F5344CB8AC3E}">
        <p14:creationId xmlns:p14="http://schemas.microsoft.com/office/powerpoint/2010/main" val="22438687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99446-0BDC-41D9-2AE3-F5924914C3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6BD8976-9A17-4AEB-6CF6-A044F64330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F6D6034-DC9F-6FCA-2695-8568A00F4DDB}"/>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5" name="Footer Placeholder 4">
            <a:extLst>
              <a:ext uri="{FF2B5EF4-FFF2-40B4-BE49-F238E27FC236}">
                <a16:creationId xmlns:a16="http://schemas.microsoft.com/office/drawing/2014/main" id="{D0CE3807-8887-B349-F927-2C95D58C61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6FE726E-93EE-7E88-69C6-14A3890C3BCB}"/>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3307804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802FF-B482-0804-9A34-461822D32FA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166462-871B-C549-2FF0-E0DF7D6750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0D47CA3-6866-6098-58BC-1F8ACB6AC1FC}"/>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5" name="Footer Placeholder 4">
            <a:extLst>
              <a:ext uri="{FF2B5EF4-FFF2-40B4-BE49-F238E27FC236}">
                <a16:creationId xmlns:a16="http://schemas.microsoft.com/office/drawing/2014/main" id="{F8216CE8-E948-50AB-1348-4069FC46F8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9AC562-E6E6-817D-1448-8A7832678918}"/>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1405229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9CDA2-E4EB-492D-B255-CB5543ACAF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1DE13C3-1BA7-8E24-4795-4112C8AD03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05A2D4-8162-603F-45C3-675966A0AA45}"/>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5" name="Footer Placeholder 4">
            <a:extLst>
              <a:ext uri="{FF2B5EF4-FFF2-40B4-BE49-F238E27FC236}">
                <a16:creationId xmlns:a16="http://schemas.microsoft.com/office/drawing/2014/main" id="{E69212C2-4F14-8A77-CA98-D9D33CBDD8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617933-2F68-8171-ED13-49EC505B6132}"/>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2665521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5F8F-6133-9F25-3176-B626141581C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03650B1-ED1A-9D5D-8221-BF2F9F2029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D09796E-F0B7-F602-FB17-B34FAD1C12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152EFE2-0049-9970-8459-54FF438361A0}"/>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6" name="Footer Placeholder 5">
            <a:extLst>
              <a:ext uri="{FF2B5EF4-FFF2-40B4-BE49-F238E27FC236}">
                <a16:creationId xmlns:a16="http://schemas.microsoft.com/office/drawing/2014/main" id="{3E0429B5-1684-7C15-C9C1-81736B7D784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77CBE4-9DF5-6E83-887E-703095C80EBD}"/>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2314579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AA6AC-F4A5-7E14-866F-FD83B4CDC6F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BB2364B-3322-584D-A590-99BD211042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DF6548-5080-589B-4D94-4E3723D340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838B229-F77C-0978-97AF-992A21C03D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C13940-773D-E7EE-BCBA-5844B2B5CC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5750373-3CD8-C65B-4FEF-1C2B78F5FCD1}"/>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8" name="Footer Placeholder 7">
            <a:extLst>
              <a:ext uri="{FF2B5EF4-FFF2-40B4-BE49-F238E27FC236}">
                <a16:creationId xmlns:a16="http://schemas.microsoft.com/office/drawing/2014/main" id="{959C06EF-AA0F-4EEC-F789-FCC3B504E5A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DE2AB59-86E3-08D8-E09B-BE363D16708B}"/>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6177827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91437-FC08-FEBF-3B26-B019D9F96B4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25353FD-0BBD-BA6A-BB98-9E5D685A6512}"/>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4" name="Footer Placeholder 3">
            <a:extLst>
              <a:ext uri="{FF2B5EF4-FFF2-40B4-BE49-F238E27FC236}">
                <a16:creationId xmlns:a16="http://schemas.microsoft.com/office/drawing/2014/main" id="{15D6E83C-18B2-F4AD-92AC-D90C16771A9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E1DF461-3A4E-C6A4-EAFD-5213D39FAA84}"/>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1953523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E8D700-9B3E-C2E2-2F05-D0232C5247B2}"/>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3" name="Footer Placeholder 2">
            <a:extLst>
              <a:ext uri="{FF2B5EF4-FFF2-40B4-BE49-F238E27FC236}">
                <a16:creationId xmlns:a16="http://schemas.microsoft.com/office/drawing/2014/main" id="{9861373F-6009-D523-5D13-BE03C5F2883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F98DF6F-3897-D16B-9BB1-AC4348077D4C}"/>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894788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BCCEF-D59D-2154-155F-D66418E130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A420696-5685-DF4D-2364-169A392BBE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17114FB-56A3-053C-6C62-9EB825DADE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B00E5A-2CB1-877C-8042-DBC38C06AF77}"/>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6" name="Footer Placeholder 5">
            <a:extLst>
              <a:ext uri="{FF2B5EF4-FFF2-40B4-BE49-F238E27FC236}">
                <a16:creationId xmlns:a16="http://schemas.microsoft.com/office/drawing/2014/main" id="{09EB61E5-6BA8-7AF2-D2F9-2CA5E89B9CF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9F7979-5CB4-BF36-A719-41218BBFC178}"/>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3588650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66938-2A79-6191-FDD1-10C7C53CA3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C58542F-18BB-D8AF-48B1-2FAE16FC36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295408A-F5D7-D557-E291-2F790E38B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B47B99-FD90-D8F5-93E5-F21934064C0F}"/>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6" name="Footer Placeholder 5">
            <a:extLst>
              <a:ext uri="{FF2B5EF4-FFF2-40B4-BE49-F238E27FC236}">
                <a16:creationId xmlns:a16="http://schemas.microsoft.com/office/drawing/2014/main" id="{343CD613-BA29-F943-B824-EB76F64C214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B1D7EB7-50B4-3BED-2431-2175ADB67DD7}"/>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3745155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9A445-D7C6-2B3C-E594-50EE4F6116C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BDDE13F-239A-4000-38FA-92F56038A6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C813DA1-CAFE-858C-5520-153381A7A538}"/>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5" name="Footer Placeholder 4">
            <a:extLst>
              <a:ext uri="{FF2B5EF4-FFF2-40B4-BE49-F238E27FC236}">
                <a16:creationId xmlns:a16="http://schemas.microsoft.com/office/drawing/2014/main" id="{EBE9E888-076F-662A-8BF6-FA4EA482091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38996A-D262-4B5C-7F91-B2003AB6C4F6}"/>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2357409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1C564B-FB8B-6EF5-55E1-3C280FA35B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3AE0987-2677-3C74-D233-5BD1372452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0810C6-1A88-969E-5C8C-793FA67A122C}"/>
              </a:ext>
            </a:extLst>
          </p:cNvPr>
          <p:cNvSpPr>
            <a:spLocks noGrp="1"/>
          </p:cNvSpPr>
          <p:nvPr>
            <p:ph type="dt" sz="half" idx="10"/>
          </p:nvPr>
        </p:nvSpPr>
        <p:spPr/>
        <p:txBody>
          <a:bodyPr/>
          <a:lstStyle/>
          <a:p>
            <a:fld id="{117118E2-0F24-4B14-A878-1C28699434BF}" type="datetimeFigureOut">
              <a:rPr lang="en-GB" smtClean="0"/>
              <a:t>06/12/2025</a:t>
            </a:fld>
            <a:endParaRPr lang="en-GB"/>
          </a:p>
        </p:txBody>
      </p:sp>
      <p:sp>
        <p:nvSpPr>
          <p:cNvPr id="5" name="Footer Placeholder 4">
            <a:extLst>
              <a:ext uri="{FF2B5EF4-FFF2-40B4-BE49-F238E27FC236}">
                <a16:creationId xmlns:a16="http://schemas.microsoft.com/office/drawing/2014/main" id="{156CBADB-29A2-F0F5-3379-23C9DF289B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55D31E-8306-8914-4F14-D01C0B3566B1}"/>
              </a:ext>
            </a:extLst>
          </p:cNvPr>
          <p:cNvSpPr>
            <a:spLocks noGrp="1"/>
          </p:cNvSpPr>
          <p:nvPr>
            <p:ph type="sldNum" sz="quarter" idx="12"/>
          </p:nvPr>
        </p:nvSpPr>
        <p:spPr/>
        <p:txBody>
          <a:bodyPr/>
          <a:lstStyle/>
          <a:p>
            <a:fld id="{DFDF247D-D46A-4E74-BF35-18EA9FC96B77}" type="slidenum">
              <a:rPr lang="en-GB" smtClean="0"/>
              <a:t>‹#›</a:t>
            </a:fld>
            <a:endParaRPr lang="en-GB"/>
          </a:p>
        </p:txBody>
      </p:sp>
    </p:spTree>
    <p:extLst>
      <p:ext uri="{BB962C8B-B14F-4D97-AF65-F5344CB8AC3E}">
        <p14:creationId xmlns:p14="http://schemas.microsoft.com/office/powerpoint/2010/main" val="2447051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21355F-D77C-BC03-A574-CE3198CBF1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1D78CAB-76DF-0D4F-6B6D-60F798E899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B428B8-FEE0-5A6A-099B-CBFE4901F3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7118E2-0F24-4B14-A878-1C28699434BF}" type="datetimeFigureOut">
              <a:rPr lang="en-GB" smtClean="0"/>
              <a:t>06/12/2025</a:t>
            </a:fld>
            <a:endParaRPr lang="en-GB"/>
          </a:p>
        </p:txBody>
      </p:sp>
      <p:sp>
        <p:nvSpPr>
          <p:cNvPr id="5" name="Footer Placeholder 4">
            <a:extLst>
              <a:ext uri="{FF2B5EF4-FFF2-40B4-BE49-F238E27FC236}">
                <a16:creationId xmlns:a16="http://schemas.microsoft.com/office/drawing/2014/main" id="{060BD432-D6D9-0D00-8C40-26FDC69643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3501862-2CAD-8941-21AE-52547265FB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DF247D-D46A-4E74-BF35-18EA9FC96B77}" type="slidenum">
              <a:rPr lang="en-GB" smtClean="0"/>
              <a:t>‹#›</a:t>
            </a:fld>
            <a:endParaRPr lang="en-GB"/>
          </a:p>
        </p:txBody>
      </p:sp>
    </p:spTree>
    <p:extLst>
      <p:ext uri="{BB962C8B-B14F-4D97-AF65-F5344CB8AC3E}">
        <p14:creationId xmlns:p14="http://schemas.microsoft.com/office/powerpoint/2010/main" val="1081246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 up of a solar panel">
            <a:extLst>
              <a:ext uri="{FF2B5EF4-FFF2-40B4-BE49-F238E27FC236}">
                <a16:creationId xmlns:a16="http://schemas.microsoft.com/office/drawing/2014/main" id="{735CD3C4-61C8-87E6-F610-04C79C616177}"/>
              </a:ext>
            </a:extLst>
          </p:cNvPr>
          <p:cNvPicPr>
            <a:picLocks noChangeAspect="1"/>
          </p:cNvPicPr>
          <p:nvPr/>
        </p:nvPicPr>
        <p:blipFill>
          <a:blip r:embed="rId2">
            <a:alphaModFix amt="50000"/>
          </a:blip>
          <a:srcRect b="1573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590EE73F-8547-4E03-5A60-2FE4C219F46A}"/>
              </a:ext>
            </a:extLst>
          </p:cNvPr>
          <p:cNvSpPr>
            <a:spLocks noGrp="1"/>
          </p:cNvSpPr>
          <p:nvPr>
            <p:ph type="ctrTitle"/>
          </p:nvPr>
        </p:nvSpPr>
        <p:spPr>
          <a:xfrm>
            <a:off x="1524000" y="1122362"/>
            <a:ext cx="9144000" cy="2900518"/>
          </a:xfrm>
        </p:spPr>
        <p:txBody>
          <a:bodyPr>
            <a:normAutofit/>
          </a:bodyPr>
          <a:lstStyle/>
          <a:p>
            <a:r>
              <a:rPr lang="en-US" dirty="0">
                <a:solidFill>
                  <a:srgbClr val="FFFFFF"/>
                </a:solidFill>
              </a:rPr>
              <a:t>Task 3: LumiCharge UK Launch: Power the Day with Solar Innovation</a:t>
            </a:r>
            <a:endParaRPr lang="en-GB" dirty="0">
              <a:solidFill>
                <a:srgbClr val="FFFFFF"/>
              </a:solidFill>
            </a:endParaRPr>
          </a:p>
        </p:txBody>
      </p:sp>
      <p:sp>
        <p:nvSpPr>
          <p:cNvPr id="3" name="Subtitle 2">
            <a:extLst>
              <a:ext uri="{FF2B5EF4-FFF2-40B4-BE49-F238E27FC236}">
                <a16:creationId xmlns:a16="http://schemas.microsoft.com/office/drawing/2014/main" id="{01688FBB-53B6-1AC8-24B4-4013204A7C1A}"/>
              </a:ext>
            </a:extLst>
          </p:cNvPr>
          <p:cNvSpPr>
            <a:spLocks noGrp="1"/>
          </p:cNvSpPr>
          <p:nvPr>
            <p:ph type="subTitle" idx="1"/>
          </p:nvPr>
        </p:nvSpPr>
        <p:spPr>
          <a:xfrm>
            <a:off x="1524000" y="4159404"/>
            <a:ext cx="9144000" cy="1098395"/>
          </a:xfrm>
        </p:spPr>
        <p:txBody>
          <a:bodyPr>
            <a:normAutofit/>
          </a:bodyPr>
          <a:lstStyle/>
          <a:p>
            <a:r>
              <a:rPr lang="en-US" dirty="0">
                <a:solidFill>
                  <a:srgbClr val="FFFFFF"/>
                </a:solidFill>
              </a:rPr>
              <a:t>Student Name:</a:t>
            </a:r>
          </a:p>
          <a:p>
            <a:r>
              <a:rPr lang="en-US" dirty="0">
                <a:solidFill>
                  <a:srgbClr val="FFFFFF"/>
                </a:solidFill>
              </a:rPr>
              <a:t>Student ID:</a:t>
            </a:r>
            <a:endParaRPr lang="en-GB" dirty="0">
              <a:solidFill>
                <a:srgbClr val="FFFFFF"/>
              </a:solidFill>
            </a:endParaRPr>
          </a:p>
        </p:txBody>
      </p:sp>
    </p:spTree>
    <p:extLst>
      <p:ext uri="{BB962C8B-B14F-4D97-AF65-F5344CB8AC3E}">
        <p14:creationId xmlns:p14="http://schemas.microsoft.com/office/powerpoint/2010/main" val="61570034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AF7ADE-464C-2E8E-2ECE-A559ADA174CD}"/>
              </a:ext>
            </a:extLst>
          </p:cNvPr>
          <p:cNvSpPr>
            <a:spLocks noGrp="1"/>
          </p:cNvSpPr>
          <p:nvPr>
            <p:ph type="title"/>
          </p:nvPr>
        </p:nvSpPr>
        <p:spPr>
          <a:xfrm>
            <a:off x="640080" y="325369"/>
            <a:ext cx="4368602" cy="1956841"/>
          </a:xfrm>
        </p:spPr>
        <p:txBody>
          <a:bodyPr anchor="b">
            <a:normAutofit/>
          </a:bodyPr>
          <a:lstStyle/>
          <a:p>
            <a:r>
              <a:rPr lang="en-US" sz="5000" dirty="0"/>
              <a:t>Introduction &amp; Target Audience</a:t>
            </a:r>
            <a:endParaRPr lang="en-GB" sz="5000" dirty="0"/>
          </a:p>
        </p:txBody>
      </p:sp>
      <p:sp>
        <p:nvSpPr>
          <p:cNvPr id="18"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CED94F6-CA04-A1B9-3C5E-3CDF86A99548}"/>
              </a:ext>
            </a:extLst>
          </p:cNvPr>
          <p:cNvSpPr>
            <a:spLocks noGrp="1"/>
          </p:cNvSpPr>
          <p:nvPr>
            <p:ph idx="1"/>
          </p:nvPr>
        </p:nvSpPr>
        <p:spPr>
          <a:xfrm>
            <a:off x="640080" y="2872899"/>
            <a:ext cx="4243589" cy="3320668"/>
          </a:xfrm>
        </p:spPr>
        <p:txBody>
          <a:bodyPr>
            <a:normAutofit/>
          </a:bodyPr>
          <a:lstStyle/>
          <a:p>
            <a:pPr>
              <a:buFont typeface="Arial" panose="020B0604020202020204" pitchFamily="34" charset="0"/>
              <a:buChar char="•"/>
            </a:pPr>
            <a:r>
              <a:rPr lang="en-GB" sz="2000" dirty="0"/>
              <a:t>Targets UK mobile users: youth, commuters, outdoor users, tourists, eco-residents.</a:t>
            </a:r>
          </a:p>
          <a:p>
            <a:pPr>
              <a:buFont typeface="Arial" panose="020B0604020202020204" pitchFamily="34" charset="0"/>
              <a:buChar char="•"/>
            </a:pPr>
            <a:r>
              <a:rPr lang="en-GB" sz="2000" dirty="0"/>
              <a:t>Positioned as a premium clean-energy device using STP principles.</a:t>
            </a:r>
          </a:p>
          <a:p>
            <a:pPr>
              <a:buFont typeface="Arial" panose="020B0604020202020204" pitchFamily="34" charset="0"/>
              <a:buChar char="•"/>
            </a:pPr>
            <a:r>
              <a:rPr lang="en-GB" sz="2000" dirty="0"/>
              <a:t>Hofstede: high Power Distance → credible, premium branding.</a:t>
            </a:r>
          </a:p>
          <a:p>
            <a:pPr>
              <a:buFont typeface="Arial" panose="020B0604020202020204" pitchFamily="34" charset="0"/>
              <a:buChar char="•"/>
            </a:pPr>
            <a:r>
              <a:rPr lang="en-GB" sz="2000" dirty="0"/>
              <a:t>Collectivist culture → group, family and outdoor imagery.</a:t>
            </a:r>
          </a:p>
          <a:p>
            <a:endParaRPr lang="en-GB" sz="2000" dirty="0"/>
          </a:p>
        </p:txBody>
      </p:sp>
      <p:pic>
        <p:nvPicPr>
          <p:cNvPr id="5" name="Picture 4" descr="An image of people walking and their shadows">
            <a:extLst>
              <a:ext uri="{FF2B5EF4-FFF2-40B4-BE49-F238E27FC236}">
                <a16:creationId xmlns:a16="http://schemas.microsoft.com/office/drawing/2014/main" id="{9B904D46-D1D7-78D0-65F9-18214956E8A9}"/>
              </a:ext>
            </a:extLst>
          </p:cNvPr>
          <p:cNvPicPr>
            <a:picLocks noChangeAspect="1"/>
          </p:cNvPicPr>
          <p:nvPr/>
        </p:nvPicPr>
        <p:blipFill>
          <a:blip r:embed="rId3"/>
          <a:srcRect r="32296"/>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293237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10CD39-B427-B4B3-2CB6-C430C6AC401D}"/>
              </a:ext>
            </a:extLst>
          </p:cNvPr>
          <p:cNvSpPr>
            <a:spLocks noGrp="1"/>
          </p:cNvSpPr>
          <p:nvPr>
            <p:ph type="title"/>
          </p:nvPr>
        </p:nvSpPr>
        <p:spPr>
          <a:xfrm>
            <a:off x="5297762" y="329184"/>
            <a:ext cx="6251110" cy="1783080"/>
          </a:xfrm>
        </p:spPr>
        <p:txBody>
          <a:bodyPr anchor="b">
            <a:normAutofit/>
          </a:bodyPr>
          <a:lstStyle/>
          <a:p>
            <a:r>
              <a:rPr lang="en-US" sz="5400"/>
              <a:t>Creative Concept &amp; Tagline</a:t>
            </a:r>
            <a:endParaRPr lang="en-GB" sz="5400"/>
          </a:p>
        </p:txBody>
      </p:sp>
      <p:pic>
        <p:nvPicPr>
          <p:cNvPr id="1026" name="Picture 2" descr="Solar Panels In Sun Pictures | Download Free Images on Unsplash">
            <a:extLst>
              <a:ext uri="{FF2B5EF4-FFF2-40B4-BE49-F238E27FC236}">
                <a16:creationId xmlns:a16="http://schemas.microsoft.com/office/drawing/2014/main" id="{EF105601-DC50-5BD1-811A-CEE31D7D5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9336" b="1"/>
          <a:stretch>
            <a:fillRect/>
          </a:stretch>
        </p:blipFill>
        <p:spPr bwMode="auto">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1033"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8168783-0C47-4204-6B4A-E9FB9F93CDF5}"/>
              </a:ext>
            </a:extLst>
          </p:cNvPr>
          <p:cNvSpPr>
            <a:spLocks noGrp="1"/>
          </p:cNvSpPr>
          <p:nvPr>
            <p:ph idx="1"/>
          </p:nvPr>
        </p:nvSpPr>
        <p:spPr>
          <a:xfrm>
            <a:off x="5297762" y="2706624"/>
            <a:ext cx="6251110" cy="3483864"/>
          </a:xfrm>
        </p:spPr>
        <p:txBody>
          <a:bodyPr>
            <a:normAutofit/>
          </a:bodyPr>
          <a:lstStyle/>
          <a:p>
            <a:pPr>
              <a:buFont typeface="Arial" panose="020B0604020202020204" pitchFamily="34" charset="0"/>
              <a:buChar char="•"/>
            </a:pPr>
            <a:r>
              <a:rPr lang="en-US" sz="2200" dirty="0"/>
              <a:t>Concept focuses on UK sunlight as power and possibility.</a:t>
            </a:r>
          </a:p>
          <a:p>
            <a:pPr>
              <a:buFont typeface="Arial" panose="020B0604020202020204" pitchFamily="34" charset="0"/>
              <a:buChar char="•"/>
            </a:pPr>
            <a:r>
              <a:rPr lang="en-US" sz="2200" dirty="0"/>
              <a:t>Main slogan: </a:t>
            </a:r>
            <a:r>
              <a:rPr lang="en-US" sz="2200" b="1" dirty="0"/>
              <a:t>“Power the Day.”</a:t>
            </a:r>
            <a:endParaRPr lang="en-US" sz="2200" dirty="0"/>
          </a:p>
          <a:p>
            <a:pPr>
              <a:buFont typeface="Arial" panose="020B0604020202020204" pitchFamily="34" charset="0"/>
              <a:buChar char="•"/>
            </a:pPr>
            <a:r>
              <a:rPr lang="en-US" sz="2200" dirty="0"/>
              <a:t>Tagline: </a:t>
            </a:r>
            <a:r>
              <a:rPr lang="en-US" sz="2200" b="1" dirty="0"/>
              <a:t>“Charge with the Sun. Live without limits.”</a:t>
            </a:r>
            <a:endParaRPr lang="en-US" sz="2200" dirty="0"/>
          </a:p>
          <a:p>
            <a:pPr>
              <a:buFont typeface="Arial" panose="020B0604020202020204" pitchFamily="34" charset="0"/>
              <a:buChar char="•"/>
            </a:pPr>
            <a:r>
              <a:rPr lang="en-US" sz="2200" dirty="0"/>
              <a:t>Visuals mix UK city + desert with gold/white palette.</a:t>
            </a:r>
          </a:p>
          <a:p>
            <a:pPr>
              <a:buFont typeface="Arial" panose="020B0604020202020204" pitchFamily="34" charset="0"/>
              <a:buChar char="•"/>
            </a:pPr>
            <a:r>
              <a:rPr lang="en-US" sz="2200" dirty="0"/>
              <a:t>Stands out through cultural relevance and originality.</a:t>
            </a:r>
          </a:p>
          <a:p>
            <a:endParaRPr lang="en-GB" sz="2200" dirty="0"/>
          </a:p>
        </p:txBody>
      </p:sp>
    </p:spTree>
    <p:extLst>
      <p:ext uri="{BB962C8B-B14F-4D97-AF65-F5344CB8AC3E}">
        <p14:creationId xmlns:p14="http://schemas.microsoft.com/office/powerpoint/2010/main" val="1891160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1086A5-10F3-607C-B167-7AB97A4E1690}"/>
              </a:ext>
            </a:extLst>
          </p:cNvPr>
          <p:cNvSpPr>
            <a:spLocks noGrp="1"/>
          </p:cNvSpPr>
          <p:nvPr>
            <p:ph type="title"/>
          </p:nvPr>
        </p:nvSpPr>
        <p:spPr>
          <a:xfrm>
            <a:off x="630936" y="640080"/>
            <a:ext cx="4818888" cy="1481328"/>
          </a:xfrm>
        </p:spPr>
        <p:txBody>
          <a:bodyPr anchor="b">
            <a:normAutofit/>
          </a:bodyPr>
          <a:lstStyle/>
          <a:p>
            <a:r>
              <a:rPr lang="en-US" sz="5000"/>
              <a:t>7Ps Marketing Mix</a:t>
            </a:r>
            <a:endParaRPr lang="en-GB" sz="5000"/>
          </a:p>
        </p:txBody>
      </p:sp>
      <p:sp>
        <p:nvSpPr>
          <p:cNvPr id="205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31CE9FF-46FB-8833-CC5F-EAC8353CDB7B}"/>
              </a:ext>
            </a:extLst>
          </p:cNvPr>
          <p:cNvSpPr>
            <a:spLocks noGrp="1"/>
          </p:cNvSpPr>
          <p:nvPr>
            <p:ph idx="1"/>
          </p:nvPr>
        </p:nvSpPr>
        <p:spPr>
          <a:xfrm>
            <a:off x="630936" y="2660904"/>
            <a:ext cx="4818888" cy="3547872"/>
          </a:xfrm>
        </p:spPr>
        <p:txBody>
          <a:bodyPr anchor="t">
            <a:normAutofit/>
          </a:bodyPr>
          <a:lstStyle/>
          <a:p>
            <a:pPr>
              <a:buFont typeface="Arial" panose="020B0604020202020204" pitchFamily="34" charset="0"/>
              <a:buChar char="•"/>
            </a:pPr>
            <a:r>
              <a:rPr lang="en-GB" sz="1500" b="1" dirty="0"/>
              <a:t>Product:</a:t>
            </a:r>
            <a:r>
              <a:rPr lang="en-GB" sz="1500" dirty="0"/>
              <a:t> Solar, heat-resistant, AI-optimised pod.</a:t>
            </a:r>
          </a:p>
          <a:p>
            <a:pPr>
              <a:buFont typeface="Arial" panose="020B0604020202020204" pitchFamily="34" charset="0"/>
              <a:buChar char="•"/>
            </a:pPr>
            <a:r>
              <a:rPr lang="en-GB" sz="1500" b="1" dirty="0"/>
              <a:t>Price:</a:t>
            </a:r>
            <a:r>
              <a:rPr lang="en-GB" sz="1500" dirty="0"/>
              <a:t> Mid-premium for UK expectations.</a:t>
            </a:r>
          </a:p>
          <a:p>
            <a:pPr>
              <a:buFont typeface="Arial" panose="020B0604020202020204" pitchFamily="34" charset="0"/>
              <a:buChar char="•"/>
            </a:pPr>
            <a:r>
              <a:rPr lang="en-GB" sz="1500" b="1" dirty="0"/>
              <a:t>Place:</a:t>
            </a:r>
            <a:r>
              <a:rPr lang="en-GB" sz="1500" dirty="0"/>
              <a:t> Sharaf DG, Virgin, Carrefour, airports, Amazon AE, Noon.</a:t>
            </a:r>
          </a:p>
          <a:p>
            <a:pPr>
              <a:buFont typeface="Arial" panose="020B0604020202020204" pitchFamily="34" charset="0"/>
              <a:buChar char="•"/>
            </a:pPr>
            <a:r>
              <a:rPr lang="en-GB" sz="1500" b="1" dirty="0"/>
              <a:t>Promotion:</a:t>
            </a:r>
            <a:r>
              <a:rPr lang="en-GB" sz="1500" dirty="0"/>
              <a:t> Influencers, TikTok/IG ads, billboards, 30s video.</a:t>
            </a:r>
          </a:p>
          <a:p>
            <a:pPr>
              <a:buFont typeface="Arial" panose="020B0604020202020204" pitchFamily="34" charset="0"/>
              <a:buChar char="•"/>
            </a:pPr>
            <a:r>
              <a:rPr lang="en-GB" sz="1500" b="1" dirty="0"/>
              <a:t>People:</a:t>
            </a:r>
            <a:r>
              <a:rPr lang="en-GB" sz="1500" dirty="0"/>
              <a:t> Trained in-store brand ambassadors.</a:t>
            </a:r>
          </a:p>
          <a:p>
            <a:pPr>
              <a:buFont typeface="Arial" panose="020B0604020202020204" pitchFamily="34" charset="0"/>
              <a:buChar char="•"/>
            </a:pPr>
            <a:r>
              <a:rPr lang="en-GB" sz="1500" b="1" dirty="0"/>
              <a:t>Process:</a:t>
            </a:r>
            <a:r>
              <a:rPr lang="en-GB" sz="1500" dirty="0"/>
              <a:t> Fast delivery, easy warranty, English support.</a:t>
            </a:r>
          </a:p>
          <a:p>
            <a:pPr>
              <a:buFont typeface="Arial" panose="020B0604020202020204" pitchFamily="34" charset="0"/>
              <a:buChar char="•"/>
            </a:pPr>
            <a:r>
              <a:rPr lang="en-GB" sz="1500" b="1" dirty="0"/>
              <a:t>Physical Evidence:</a:t>
            </a:r>
            <a:r>
              <a:rPr lang="en-GB" sz="1500" dirty="0"/>
              <a:t> Premium packaging + sustainability labels.</a:t>
            </a:r>
          </a:p>
          <a:p>
            <a:endParaRPr lang="en-GB" sz="1500" dirty="0"/>
          </a:p>
        </p:txBody>
      </p:sp>
      <p:pic>
        <p:nvPicPr>
          <p:cNvPr id="2050" name="Picture 2" descr="Marketing 7ps diagram. Customer strategy with market management and  business infographics 47382631 Vector Art at Vecteezy">
            <a:extLst>
              <a:ext uri="{FF2B5EF4-FFF2-40B4-BE49-F238E27FC236}">
                <a16:creationId xmlns:a16="http://schemas.microsoft.com/office/drawing/2014/main" id="{D9407666-778E-24C5-FA8C-6176F5084CA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99048" y="1982373"/>
            <a:ext cx="5458968" cy="2893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1621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4A5FE0-2BF4-903F-701A-EB02B5FBDD61}"/>
              </a:ext>
            </a:extLst>
          </p:cNvPr>
          <p:cNvSpPr>
            <a:spLocks noGrp="1"/>
          </p:cNvSpPr>
          <p:nvPr>
            <p:ph type="title"/>
          </p:nvPr>
        </p:nvSpPr>
        <p:spPr>
          <a:xfrm>
            <a:off x="645064" y="525982"/>
            <a:ext cx="4282983" cy="1200361"/>
          </a:xfrm>
        </p:spPr>
        <p:txBody>
          <a:bodyPr anchor="b">
            <a:normAutofit/>
          </a:bodyPr>
          <a:lstStyle/>
          <a:p>
            <a:r>
              <a:rPr lang="en-US" sz="3600"/>
              <a:t>Campaign Roll-Out Strategy</a:t>
            </a:r>
            <a:endParaRPr lang="en-GB" sz="3600"/>
          </a:p>
        </p:txBody>
      </p:sp>
      <p:sp>
        <p:nvSpPr>
          <p:cNvPr id="17" name="Rectangle 1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7A4EEDE-99A3-F78B-79D2-DCDDC9165D58}"/>
              </a:ext>
            </a:extLst>
          </p:cNvPr>
          <p:cNvSpPr>
            <a:spLocks noGrp="1"/>
          </p:cNvSpPr>
          <p:nvPr>
            <p:ph idx="1"/>
          </p:nvPr>
        </p:nvSpPr>
        <p:spPr>
          <a:xfrm>
            <a:off x="645066" y="2031101"/>
            <a:ext cx="4282984" cy="3511943"/>
          </a:xfrm>
        </p:spPr>
        <p:txBody>
          <a:bodyPr anchor="ctr">
            <a:normAutofit/>
          </a:bodyPr>
          <a:lstStyle/>
          <a:p>
            <a:pPr>
              <a:buFont typeface="Arial" panose="020B0604020202020204" pitchFamily="34" charset="0"/>
              <a:buChar char="•"/>
            </a:pPr>
            <a:r>
              <a:rPr lang="en-GB" sz="1800" dirty="0"/>
              <a:t>Phase 1: Teasers + influencer unboxings.</a:t>
            </a:r>
          </a:p>
          <a:p>
            <a:pPr>
              <a:buFont typeface="Arial" panose="020B0604020202020204" pitchFamily="34" charset="0"/>
              <a:buChar char="•"/>
            </a:pPr>
            <a:r>
              <a:rPr lang="en-GB" sz="1800" dirty="0"/>
              <a:t>Phase 2: UK Marina launch + AIDA-based engagement.</a:t>
            </a:r>
          </a:p>
          <a:p>
            <a:pPr>
              <a:buFont typeface="Arial" panose="020B0604020202020204" pitchFamily="34" charset="0"/>
              <a:buChar char="•"/>
            </a:pPr>
            <a:r>
              <a:rPr lang="en-GB" sz="1800" dirty="0"/>
              <a:t>Phase 3: In-store push + airport visibility.</a:t>
            </a:r>
          </a:p>
          <a:p>
            <a:pPr>
              <a:buFont typeface="Arial" panose="020B0604020202020204" pitchFamily="34" charset="0"/>
              <a:buChar char="•"/>
            </a:pPr>
            <a:r>
              <a:rPr lang="en-GB" sz="1800" dirty="0"/>
              <a:t>Phase 4: Loyalty rewards + UGC challenges.</a:t>
            </a:r>
          </a:p>
          <a:p>
            <a:pPr>
              <a:buFont typeface="Arial" panose="020B0604020202020204" pitchFamily="34" charset="0"/>
              <a:buChar char="•"/>
            </a:pPr>
            <a:r>
              <a:rPr lang="en-GB" sz="1800" dirty="0"/>
              <a:t>Multi-channel rollout ensures full consumer journey coverage.</a:t>
            </a:r>
          </a:p>
          <a:p>
            <a:endParaRPr lang="en-GB" sz="1800" dirty="0"/>
          </a:p>
        </p:txBody>
      </p:sp>
      <p:sp>
        <p:nvSpPr>
          <p:cNvPr id="19" name="Rectangle 1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888E929-103B-B301-DE65-0FAC4D7AC238}"/>
              </a:ext>
            </a:extLst>
          </p:cNvPr>
          <p:cNvPicPr>
            <a:picLocks noChangeAspect="1"/>
          </p:cNvPicPr>
          <p:nvPr/>
        </p:nvPicPr>
        <p:blipFill>
          <a:blip r:embed="rId3"/>
          <a:stretch>
            <a:fillRect/>
          </a:stretch>
        </p:blipFill>
        <p:spPr>
          <a:xfrm>
            <a:off x="5987738" y="1687475"/>
            <a:ext cx="5628018" cy="3250180"/>
          </a:xfrm>
          <a:prstGeom prst="rect">
            <a:avLst/>
          </a:prstGeom>
        </p:spPr>
      </p:pic>
    </p:spTree>
    <p:extLst>
      <p:ext uri="{BB962C8B-B14F-4D97-AF65-F5344CB8AC3E}">
        <p14:creationId xmlns:p14="http://schemas.microsoft.com/office/powerpoint/2010/main" val="1001414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DAACF6-3606-300C-5027-6E9492AFDB46}"/>
              </a:ext>
            </a:extLst>
          </p:cNvPr>
          <p:cNvSpPr>
            <a:spLocks noGrp="1"/>
          </p:cNvSpPr>
          <p:nvPr>
            <p:ph type="title"/>
          </p:nvPr>
        </p:nvSpPr>
        <p:spPr>
          <a:xfrm>
            <a:off x="761803" y="350196"/>
            <a:ext cx="4646904" cy="1624520"/>
          </a:xfrm>
        </p:spPr>
        <p:txBody>
          <a:bodyPr anchor="ctr">
            <a:normAutofit/>
          </a:bodyPr>
          <a:lstStyle/>
          <a:p>
            <a:r>
              <a:rPr lang="en-US" sz="3700" dirty="0"/>
              <a:t>Sample Advertisement &amp; Key Insights</a:t>
            </a:r>
            <a:endParaRPr lang="en-GB" sz="3700" dirty="0"/>
          </a:p>
        </p:txBody>
      </p:sp>
      <p:sp>
        <p:nvSpPr>
          <p:cNvPr id="3" name="Content Placeholder 2">
            <a:extLst>
              <a:ext uri="{FF2B5EF4-FFF2-40B4-BE49-F238E27FC236}">
                <a16:creationId xmlns:a16="http://schemas.microsoft.com/office/drawing/2014/main" id="{23EF2212-BFB7-9FFA-0966-D35D897728B3}"/>
              </a:ext>
            </a:extLst>
          </p:cNvPr>
          <p:cNvSpPr>
            <a:spLocks noGrp="1"/>
          </p:cNvSpPr>
          <p:nvPr>
            <p:ph idx="1"/>
          </p:nvPr>
        </p:nvSpPr>
        <p:spPr>
          <a:xfrm>
            <a:off x="761802" y="2743200"/>
            <a:ext cx="4646905" cy="3613149"/>
          </a:xfrm>
        </p:spPr>
        <p:txBody>
          <a:bodyPr anchor="ctr">
            <a:normAutofit/>
          </a:bodyPr>
          <a:lstStyle/>
          <a:p>
            <a:pPr>
              <a:buFont typeface="Arial" panose="020B0604020202020204" pitchFamily="34" charset="0"/>
              <a:buChar char="•"/>
            </a:pPr>
            <a:r>
              <a:rPr lang="en-GB" sz="2000" dirty="0"/>
              <a:t>Fast UK scenes: commute, beach, desert, cafés.</a:t>
            </a:r>
          </a:p>
          <a:p>
            <a:pPr>
              <a:buFont typeface="Arial" panose="020B0604020202020204" pitchFamily="34" charset="0"/>
              <a:buChar char="•"/>
            </a:pPr>
            <a:r>
              <a:rPr lang="en-GB" sz="2000" dirty="0"/>
              <a:t>Lumicharge shown powering devices in every moment.</a:t>
            </a:r>
          </a:p>
          <a:p>
            <a:pPr>
              <a:buFont typeface="Arial" panose="020B0604020202020204" pitchFamily="34" charset="0"/>
              <a:buChar char="•"/>
            </a:pPr>
            <a:r>
              <a:rPr lang="en-GB" sz="2000" dirty="0"/>
              <a:t>Voiceover: “Keep going, whatever you have planned.”</a:t>
            </a:r>
          </a:p>
          <a:p>
            <a:pPr>
              <a:buFont typeface="Arial" panose="020B0604020202020204" pitchFamily="34" charset="0"/>
              <a:buChar char="•"/>
            </a:pPr>
            <a:r>
              <a:rPr lang="en-GB" sz="2000" dirty="0"/>
              <a:t>Strong cultural fit, theory-driven, and builds UK brand credibility.</a:t>
            </a:r>
          </a:p>
          <a:p>
            <a:endParaRPr lang="en-GB" sz="2000" dirty="0"/>
          </a:p>
        </p:txBody>
      </p:sp>
      <p:pic>
        <p:nvPicPr>
          <p:cNvPr id="5" name="Picture 4" descr="Bird's eye view of the cityscape">
            <a:extLst>
              <a:ext uri="{FF2B5EF4-FFF2-40B4-BE49-F238E27FC236}">
                <a16:creationId xmlns:a16="http://schemas.microsoft.com/office/drawing/2014/main" id="{566E4D34-5D11-147C-F4AE-525BA4EE461F}"/>
              </a:ext>
            </a:extLst>
          </p:cNvPr>
          <p:cNvPicPr>
            <a:picLocks noChangeAspect="1"/>
          </p:cNvPicPr>
          <p:nvPr/>
        </p:nvPicPr>
        <p:blipFill>
          <a:blip r:embed="rId3"/>
          <a:srcRect l="23094" r="17505" b="-2"/>
          <a:stretch>
            <a:fillRect/>
          </a:stretch>
        </p:blipFill>
        <p:spPr>
          <a:xfrm>
            <a:off x="6096000" y="1"/>
            <a:ext cx="6102825" cy="6858000"/>
          </a:xfrm>
          <a:prstGeom prst="rect">
            <a:avLst/>
          </a:prstGeom>
        </p:spPr>
      </p:pic>
    </p:spTree>
    <p:extLst>
      <p:ext uri="{BB962C8B-B14F-4D97-AF65-F5344CB8AC3E}">
        <p14:creationId xmlns:p14="http://schemas.microsoft.com/office/powerpoint/2010/main" val="537833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860</Words>
  <Application>Microsoft Office PowerPoint</Application>
  <PresentationFormat>Widescreen</PresentationFormat>
  <Paragraphs>55</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Task 3: LumiCharge UK Launch: Power the Day with Solar Innovation</vt:lpstr>
      <vt:lpstr>Introduction &amp; Target Audience</vt:lpstr>
      <vt:lpstr>Creative Concept &amp; Tagline</vt:lpstr>
      <vt:lpstr>7Ps Marketing Mix</vt:lpstr>
      <vt:lpstr>Campaign Roll-Out Strategy</vt:lpstr>
      <vt:lpstr>Sample Advertisement &amp; Key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Anwer Hosain Shakib</dc:creator>
  <cp:lastModifiedBy>Anwer Hosain Shakib</cp:lastModifiedBy>
  <cp:revision>2</cp:revision>
  <dcterms:created xsi:type="dcterms:W3CDTF">2025-12-06T08:13:36Z</dcterms:created>
  <dcterms:modified xsi:type="dcterms:W3CDTF">2025-12-06T17:12:16Z</dcterms:modified>
</cp:coreProperties>
</file>